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198B00-D2C7-4CC7-B19F-F896A1937A9B}">
  <a:tblStyle styleId="{0D198B00-D2C7-4CC7-B19F-F896A1937A9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Hello, and thanks for having us. We built an interruptible real-time voice agent for Theme 05 and tested it on Full-Duplex-Bench v3. Items in red are still to be filled in before submission: team name, college and member details.</a:t>
            </a:r>
            <a:endParaRP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People correct themselves mid-sentence, and a listen-think-speak pipeline locks in the wrong value. Our goal is an agent that stays responsive, works asynchronously and never acts on a stale value or repeats a state-changing action. The benchmark has 100 real recordings from 12 speakers, 5 disfluency types and 12 mock tools across 4 domains.</a:t>
            </a:r>
            <a:endParaRP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These are the published results from the FDB-v3 paper. Self-correction is the weak spot: even the best system passes only 58.8% of those scenarios. The cause is that models commit tool arguments before the correction arrives. Scoring is strict, so firing a call and fixing it later still fails.</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Read the diagram left to right: speech comes in through LiveKit to Gemini Live, which listens, reasons and speaks natively. Every tool call it proposes goes through our commit gate, which holds it for 400 ms, lets a newer same-tool call replace it, blocks corrected-away values and refuses repeats. So stale calls never reach the tools, and the resolver can only block a value, never invent one.</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Start the video here: it runs about 3 to 5 minutes. First show a benchmark clip where the user corrects a value mid-sentence and only the corrected call runs. Then the device-troubleshooting extension with a photo, the spoken confirmation before a risky action, and a quick tour of the dashboard with trace replay.</a:t>
            </a:r>
            <a:endParaRPr/>
          </a:p>
        </p:txBody>
      </p:sp>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 voice model is Gemini 2.5 Flash native audio through the Live API, running on LiveKit Agents. We pinned Full-Duplex-Bench v3 to one commit with six documented patches and use its own NeMo pipeline for scoring. Everything reproduces with one script, and it was tested in a fresh-clone Docker container.</a:t>
            </a:r>
            <a:endParaRPr/>
          </a:p>
        </p:txBody>
      </p:sp>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Interruptions matter anywhere people talk to a device while doing something else: cars, support lines, smart homes and phones. Our extension is a troubleshooting assistant that runs diagnostics while you keep talking, retargets when you correct yourself, and asks for a spoken yes before anything risky. The payoff is fewer wrong actions and no duplicate changes.</a:t>
            </a:r>
            <a:endParaRPr/>
          </a:p>
        </p:txBody>
      </p:sp>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This is our full 100-recording run against the same model in the paper. Run ID: [FILL: run ID from results/OVERNIGHT_REPORT.md]. Tool selection, turn-take and interruption rate are clearly better, but latency is worse. Be upfront that argument accuracy and Pass@1 use strict exact-match, so they are not directly comparable to the paper’s LLM-judge numbers.</a:t>
            </a:r>
            <a:endParaRPr/>
          </a:p>
        </p:txBody>
      </p:sp>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Our biggest next step is separating provisional from confirmed commits, backed by audio-based end-of-turn detection so we don’t commit during a mid-sentence pause. We also want to cut latency and normalise arguments like dates and currencies from the tool schema. Longer term: in-car and SmartThings use cases, and Hindi and Tamil with code-switching.</a:t>
            </a:r>
            <a:endParaRPr/>
          </a:p>
        </p:txBody>
      </p:sp>
      <p:sp>
        <p:nvSpPr>
          <p:cNvPr id="160" name="Google Shape;1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What sets us apart is rigour. We found and patched three real bugs in the benchmark harness, and our fresh-clone Docker test caught a reproduction deadlock before submission. We report honestly: invalid runs were retracted, exact-match numbers are labelled, and an integrity slip was disclosed in our AI usage log. And the resolver’s safety guarantee holds by design: it can block, never invent.</a:t>
            </a:r>
            <a:endParaRPr/>
          </a:p>
        </p:txBody>
      </p:sp>
      <p:sp>
        <p:nvSpPr>
          <p:cNvPr id="166" name="Google Shape;1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73" name="Google Shape;1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p:nvPr>
            <p:ph idx="2" type="pic"/>
          </p:nvPr>
        </p:nvSpPr>
        <p:spPr>
          <a:xfrm>
            <a:off x="5183188" y="987425"/>
            <a:ext cx="6172200" cy="4873625"/>
          </a:xfrm>
          <a:prstGeom prst="rect">
            <a:avLst/>
          </a:prstGeom>
          <a:noFill/>
          <a:ln>
            <a:noFill/>
          </a:ln>
        </p:spPr>
      </p:sp>
      <p:sp>
        <p:nvSpPr>
          <p:cNvPr id="69" name="Google Shape;6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4"/>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4"/>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4"/>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4"/>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4"/>
          <p:cNvSpPr txBox="1"/>
          <p:nvPr/>
        </p:nvSpPr>
        <p:spPr>
          <a:xfrm>
            <a:off x="777240" y="3310128"/>
            <a:ext cx="6126480" cy="7772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Theme ID - Theme 05 — Interruptible Real-Time Agents</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Team Name - </a:t>
            </a:r>
            <a:r>
              <a:rPr b="1" lang="en-US" sz="1600">
                <a:solidFill>
                  <a:srgbClr val="FF0000"/>
                </a:solidFill>
                <a:latin typeface="Calibri"/>
                <a:ea typeface="Calibri"/>
                <a:cs typeface="Calibri"/>
                <a:sym typeface="Calibri"/>
              </a:rPr>
              <a:t>CodeStorm</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College Name - </a:t>
            </a:r>
            <a:r>
              <a:rPr b="1" lang="en-US" sz="1600">
                <a:solidFill>
                  <a:srgbClr val="FF0000"/>
                </a:solidFill>
                <a:latin typeface="Calibri"/>
                <a:ea typeface="Calibri"/>
                <a:cs typeface="Calibri"/>
                <a:sym typeface="Calibri"/>
              </a:rPr>
              <a:t>SRM institute of science and technology kattankulathur</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1- </a:t>
            </a:r>
            <a:r>
              <a:rPr b="1" lang="en-US" sz="1600">
                <a:solidFill>
                  <a:srgbClr val="FF0000"/>
                </a:solidFill>
                <a:latin typeface="Calibri"/>
                <a:ea typeface="Calibri"/>
                <a:cs typeface="Calibri"/>
                <a:sym typeface="Calibri"/>
              </a:rPr>
              <a:t>Guna k</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2- </a:t>
            </a:r>
            <a:r>
              <a:rPr b="1" lang="en-US" sz="1600">
                <a:solidFill>
                  <a:srgbClr val="FF0000"/>
                </a:solidFill>
                <a:latin typeface="Calibri"/>
                <a:ea typeface="Calibri"/>
                <a:cs typeface="Calibri"/>
                <a:sym typeface="Calibri"/>
              </a:rPr>
              <a:t>Harya C R</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3- </a:t>
            </a:r>
            <a:r>
              <a:rPr b="1" lang="en-US" sz="1600">
                <a:solidFill>
                  <a:srgbClr val="FF0000"/>
                </a:solidFill>
                <a:latin typeface="Calibri"/>
                <a:ea typeface="Calibri"/>
                <a:cs typeface="Calibri"/>
                <a:sym typeface="Calibri"/>
              </a:rPr>
              <a:t>Rohit Kumar R </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4- </a:t>
            </a:r>
            <a:r>
              <a:rPr b="1" lang="en-US" sz="1600">
                <a:solidFill>
                  <a:srgbClr val="FF0000"/>
                </a:solidFill>
                <a:latin typeface="Calibri"/>
                <a:ea typeface="Calibri"/>
                <a:cs typeface="Calibri"/>
                <a:sym typeface="Calibri"/>
              </a:rPr>
              <a:t>Prashansa Sarangi</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Submission Github link - https://github.com/Harya018/samsung-prism-Hackathon</a:t>
            </a:r>
            <a:endParaRPr b="0" i="0" sz="1600" u="none" cap="none" strike="noStrike">
              <a:solidFill>
                <a:srgbClr val="63637E"/>
              </a:solidFill>
              <a:latin typeface="Calibri"/>
              <a:ea typeface="Calibri"/>
              <a:cs typeface="Calibri"/>
              <a:sym typeface="Calibri"/>
            </a:endParaRPr>
          </a:p>
          <a:p>
            <a:pPr indent="0" lvl="0" marL="457200" marR="0" rtl="0" algn="l">
              <a:lnSpc>
                <a:spcPct val="100000"/>
              </a:lnSpc>
              <a:spcBef>
                <a:spcPts val="500"/>
              </a:spcBef>
              <a:spcAft>
                <a:spcPts val="0"/>
              </a:spcAft>
              <a:buNone/>
            </a:pPr>
            <a:r>
              <a:t/>
            </a:r>
            <a:endParaRPr sz="1600">
              <a:solidFill>
                <a:srgbClr val="63637E"/>
              </a:solidFill>
              <a:latin typeface="Calibri"/>
              <a:ea typeface="Calibri"/>
              <a:cs typeface="Calibri"/>
              <a:sym typeface="Calibri"/>
            </a:endParaRPr>
          </a:p>
          <a:p>
            <a:pPr indent="-76200" lvl="0" marL="177800" marR="0" rtl="0" algn="l">
              <a:lnSpc>
                <a:spcPct val="100000"/>
              </a:lnSpc>
              <a:spcBef>
                <a:spcPts val="500"/>
              </a:spcBef>
              <a:spcAft>
                <a:spcPts val="0"/>
              </a:spcAft>
              <a:buClr>
                <a:schemeClr val="dk1"/>
              </a:buClr>
              <a:buSzPts val="1600"/>
              <a:buFont typeface="Calibri"/>
              <a:buNone/>
            </a:pPr>
            <a:r>
              <a:t/>
            </a:r>
            <a:endParaRPr b="0" i="0" sz="1600" u="none" cap="none" strike="noStrike">
              <a:solidFill>
                <a:srgbClr val="63637E"/>
              </a:solidFill>
              <a:latin typeface="Calibri"/>
              <a:ea typeface="Calibri"/>
              <a:cs typeface="Calibri"/>
              <a:sym typeface="Calibri"/>
            </a:endParaRPr>
          </a:p>
        </p:txBody>
      </p:sp>
      <p:pic>
        <p:nvPicPr>
          <p:cNvPr descr="hero_network.png" id="96" name="Google Shape;96;p14"/>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Theme</a:t>
            </a:r>
            <a:endParaRPr/>
          </a:p>
        </p:txBody>
      </p:sp>
      <p:sp>
        <p:nvSpPr>
          <p:cNvPr id="102" name="Google Shape;10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100000"/>
              </a:lnSpc>
              <a:spcBef>
                <a:spcPts val="0"/>
              </a:spcBef>
              <a:spcAft>
                <a:spcPts val="0"/>
              </a:spcAft>
              <a:buClr>
                <a:srgbClr val="63637E"/>
              </a:buClr>
              <a:buSzPts val="1800"/>
              <a:buFont typeface="Arial"/>
              <a:buChar char="•"/>
            </a:pPr>
            <a:r>
              <a:rPr b="0" i="0" lang="en-US" sz="2600">
                <a:solidFill>
                  <a:srgbClr val="63637E"/>
                </a:solidFill>
                <a:latin typeface="Calibri"/>
                <a:ea typeface="Calibri"/>
                <a:cs typeface="Calibri"/>
                <a:sym typeface="Calibri"/>
              </a:rPr>
              <a:t>Real people interrupt, hesitate and correct themselves mid-sentence.</a:t>
            </a:r>
            <a:endParaRPr/>
          </a:p>
          <a:p>
            <a:pPr indent="-177800" lvl="0" marL="177800" rtl="0" algn="l">
              <a:lnSpc>
                <a:spcPct val="100000"/>
              </a:lnSpc>
              <a:spcBef>
                <a:spcPts val="2000"/>
              </a:spcBef>
              <a:spcAft>
                <a:spcPts val="0"/>
              </a:spcAft>
              <a:buClr>
                <a:srgbClr val="63637E"/>
              </a:buClr>
              <a:buSzPts val="1800"/>
              <a:buFont typeface="Arial"/>
              <a:buChar char="•"/>
            </a:pPr>
            <a:r>
              <a:rPr b="0" i="0" lang="en-US" sz="2600">
                <a:solidFill>
                  <a:srgbClr val="63637E"/>
                </a:solidFill>
                <a:latin typeface="Calibri"/>
                <a:ea typeface="Calibri"/>
                <a:cs typeface="Calibri"/>
                <a:sym typeface="Calibri"/>
              </a:rPr>
              <a:t>Half-duplex assistants (listen → think → speak) break when they do.</a:t>
            </a:r>
            <a:endParaRPr/>
          </a:p>
          <a:p>
            <a:pPr indent="-177800" lvl="0" marL="177800" rtl="0" algn="l">
              <a:lnSpc>
                <a:spcPct val="100000"/>
              </a:lnSpc>
              <a:spcBef>
                <a:spcPts val="2000"/>
              </a:spcBef>
              <a:spcAft>
                <a:spcPts val="0"/>
              </a:spcAft>
              <a:buClr>
                <a:srgbClr val="63637E"/>
              </a:buClr>
              <a:buSzPts val="1800"/>
              <a:buFont typeface="Arial"/>
              <a:buChar char="•"/>
            </a:pPr>
            <a:r>
              <a:rPr b="0" i="0" lang="en-US" sz="2600">
                <a:solidFill>
                  <a:srgbClr val="63637E"/>
                </a:solidFill>
                <a:latin typeface="Calibri"/>
                <a:ea typeface="Calibri"/>
                <a:cs typeface="Calibri"/>
                <a:sym typeface="Calibri"/>
              </a:rPr>
              <a:t>Goal: a voice agent that </a:t>
            </a:r>
            <a:r>
              <a:rPr b="1" i="0" lang="en-US" sz="2600">
                <a:solidFill>
                  <a:srgbClr val="704EA6"/>
                </a:solidFill>
                <a:latin typeface="Calibri"/>
                <a:ea typeface="Calibri"/>
                <a:cs typeface="Calibri"/>
                <a:sym typeface="Calibri"/>
              </a:rPr>
              <a:t>stays responsive</a:t>
            </a:r>
            <a:r>
              <a:rPr b="0" i="0" lang="en-US" sz="2600">
                <a:solidFill>
                  <a:srgbClr val="63637E"/>
                </a:solidFill>
                <a:latin typeface="Calibri"/>
                <a:ea typeface="Calibri"/>
                <a:cs typeface="Calibri"/>
                <a:sym typeface="Calibri"/>
              </a:rPr>
              <a:t>, </a:t>
            </a:r>
            <a:r>
              <a:rPr b="1" i="0" lang="en-US" sz="2600">
                <a:solidFill>
                  <a:srgbClr val="704EA6"/>
                </a:solidFill>
                <a:latin typeface="Calibri"/>
                <a:ea typeface="Calibri"/>
                <a:cs typeface="Calibri"/>
                <a:sym typeface="Calibri"/>
              </a:rPr>
              <a:t>works asynchronously</a:t>
            </a:r>
            <a:r>
              <a:rPr b="0" i="0" lang="en-US" sz="2600">
                <a:solidFill>
                  <a:srgbClr val="63637E"/>
                </a:solidFill>
                <a:latin typeface="Calibri"/>
                <a:ea typeface="Calibri"/>
                <a:cs typeface="Calibri"/>
                <a:sym typeface="Calibri"/>
              </a:rPr>
              <a:t> and </a:t>
            </a:r>
            <a:r>
              <a:rPr b="1" i="0" lang="en-US" sz="2600">
                <a:solidFill>
                  <a:srgbClr val="704EA6"/>
                </a:solidFill>
                <a:latin typeface="Calibri"/>
                <a:ea typeface="Calibri"/>
                <a:cs typeface="Calibri"/>
                <a:sym typeface="Calibri"/>
              </a:rPr>
              <a:t>recovers cleanly</a:t>
            </a:r>
            <a:r>
              <a:rPr b="0" i="0" lang="en-US" sz="2600">
                <a:solidFill>
                  <a:srgbClr val="63637E"/>
                </a:solidFill>
                <a:latin typeface="Calibri"/>
                <a:ea typeface="Calibri"/>
                <a:cs typeface="Calibri"/>
                <a:sym typeface="Calibri"/>
              </a:rPr>
              <a:t>.</a:t>
            </a:r>
            <a:endParaRPr/>
          </a:p>
          <a:p>
            <a:pPr indent="-177800" lvl="0" marL="177800" rtl="0" algn="l">
              <a:lnSpc>
                <a:spcPct val="100000"/>
              </a:lnSpc>
              <a:spcBef>
                <a:spcPts val="2000"/>
              </a:spcBef>
              <a:spcAft>
                <a:spcPts val="0"/>
              </a:spcAft>
              <a:buClr>
                <a:srgbClr val="63637E"/>
              </a:buClr>
              <a:buSzPts val="1800"/>
              <a:buFont typeface="Arial"/>
              <a:buChar char="•"/>
            </a:pPr>
            <a:r>
              <a:rPr b="0" i="0" lang="en-US" sz="2600">
                <a:solidFill>
                  <a:srgbClr val="63637E"/>
                </a:solidFill>
                <a:latin typeface="Calibri"/>
                <a:ea typeface="Calibri"/>
                <a:cs typeface="Calibri"/>
                <a:sym typeface="Calibri"/>
              </a:rPr>
              <a:t>Never act on a stale value. Never repeat a state-changing action.</a:t>
            </a:r>
            <a:endParaRPr/>
          </a:p>
          <a:p>
            <a:pPr indent="-177800" lvl="0" marL="177800" rtl="0" algn="l">
              <a:lnSpc>
                <a:spcPct val="100000"/>
              </a:lnSpc>
              <a:spcBef>
                <a:spcPts val="2000"/>
              </a:spcBef>
              <a:spcAft>
                <a:spcPts val="0"/>
              </a:spcAft>
              <a:buClr>
                <a:srgbClr val="63637E"/>
              </a:buClr>
              <a:buSzPts val="1800"/>
              <a:buFont typeface="Arial"/>
              <a:buChar char="•"/>
            </a:pPr>
            <a:r>
              <a:rPr b="0" i="0" lang="en-US" sz="2600">
                <a:solidFill>
                  <a:srgbClr val="63637E"/>
                </a:solidFill>
                <a:latin typeface="Calibri"/>
                <a:ea typeface="Calibri"/>
                <a:cs typeface="Calibri"/>
                <a:sym typeface="Calibri"/>
              </a:rPr>
              <a:t>Evaluated on </a:t>
            </a:r>
            <a:r>
              <a:rPr b="1" i="0" lang="en-US" sz="2600">
                <a:solidFill>
                  <a:srgbClr val="704EA6"/>
                </a:solidFill>
                <a:latin typeface="Calibri"/>
                <a:ea typeface="Calibri"/>
                <a:cs typeface="Calibri"/>
                <a:sym typeface="Calibri"/>
              </a:rPr>
              <a:t>Full-Duplex-Bench v3</a:t>
            </a:r>
            <a:r>
              <a:rPr b="0" i="0" lang="en-US" sz="2600">
                <a:solidFill>
                  <a:srgbClr val="63637E"/>
                </a:solidFill>
                <a:latin typeface="Calibri"/>
                <a:ea typeface="Calibri"/>
                <a:cs typeface="Calibri"/>
                <a:sym typeface="Calibri"/>
              </a:rPr>
              <a:t>: 100 real recordings, 12 speakers, 5 disfluency types.</a:t>
            </a:r>
            <a:endParaRPr/>
          </a:p>
          <a:p>
            <a:pPr indent="-177800" lvl="0" marL="177800" rtl="0" algn="l">
              <a:lnSpc>
                <a:spcPct val="100000"/>
              </a:lnSpc>
              <a:spcBef>
                <a:spcPts val="2000"/>
              </a:spcBef>
              <a:spcAft>
                <a:spcPts val="0"/>
              </a:spcAft>
              <a:buClr>
                <a:srgbClr val="63637E"/>
              </a:buClr>
              <a:buSzPts val="1800"/>
              <a:buFont typeface="Arial"/>
              <a:buChar char="•"/>
            </a:pPr>
            <a:r>
              <a:rPr b="0" i="0" lang="en-US" sz="2600">
                <a:solidFill>
                  <a:srgbClr val="63637E"/>
                </a:solidFill>
                <a:latin typeface="Calibri"/>
                <a:ea typeface="Calibri"/>
                <a:cs typeface="Calibri"/>
                <a:sym typeface="Calibri"/>
              </a:rPr>
              <a:t>12 mock tools across 4 domains, with chained calls of 1–3 steps.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Existing Solutions &amp; Gaps</a:t>
            </a:r>
            <a:endParaRPr/>
          </a:p>
        </p:txBody>
      </p:sp>
      <p:sp>
        <p:nvSpPr>
          <p:cNvPr id="108" name="Google Shape;108;p16"/>
          <p:cNvSpPr txBox="1"/>
          <p:nvPr>
            <p:ph idx="1" type="body"/>
          </p:nvPr>
        </p:nvSpPr>
        <p:spPr>
          <a:xfrm>
            <a:off x="841248" y="4023360"/>
            <a:ext cx="10515600" cy="2286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i="0" lang="en-US" sz="2000">
                <a:solidFill>
                  <a:srgbClr val="704EA6"/>
                </a:solidFill>
                <a:latin typeface="Calibri"/>
                <a:ea typeface="Calibri"/>
                <a:cs typeface="Calibri"/>
                <a:sym typeface="Calibri"/>
              </a:rPr>
              <a:t>Gaps</a:t>
            </a:r>
            <a:endParaRPr/>
          </a:p>
          <a:p>
            <a:pPr indent="-177800" lvl="0" marL="177800" rtl="0" algn="l">
              <a:lnSpc>
                <a:spcPct val="100000"/>
              </a:lnSpc>
              <a:spcBef>
                <a:spcPts val="800"/>
              </a:spcBef>
              <a:spcAft>
                <a:spcPts val="0"/>
              </a:spcAft>
              <a:buClr>
                <a:srgbClr val="63637E"/>
              </a:buClr>
              <a:buSzPts val="1800"/>
              <a:buFont typeface="Arial"/>
              <a:buChar char="•"/>
            </a:pPr>
            <a:r>
              <a:rPr b="0" i="0" lang="en-US" sz="2000">
                <a:solidFill>
                  <a:srgbClr val="63637E"/>
                </a:solidFill>
                <a:latin typeface="Calibri"/>
                <a:ea typeface="Calibri"/>
                <a:cs typeface="Calibri"/>
                <a:sym typeface="Calibri"/>
              </a:rPr>
              <a:t>Every system fails on over 40% of self-correction scenarios.</a:t>
            </a:r>
            <a:endParaRPr/>
          </a:p>
          <a:p>
            <a:pPr indent="-177800" lvl="0" marL="177800" rtl="0" algn="l">
              <a:lnSpc>
                <a:spcPct val="100000"/>
              </a:lnSpc>
              <a:spcBef>
                <a:spcPts val="800"/>
              </a:spcBef>
              <a:spcAft>
                <a:spcPts val="0"/>
              </a:spcAft>
              <a:buClr>
                <a:srgbClr val="63637E"/>
              </a:buClr>
              <a:buSzPts val="1800"/>
              <a:buFont typeface="Arial"/>
              <a:buChar char="•"/>
            </a:pPr>
            <a:r>
              <a:rPr b="0" i="0" lang="en-US" sz="2000">
                <a:solidFill>
                  <a:srgbClr val="63637E"/>
                </a:solidFill>
                <a:latin typeface="Calibri"/>
                <a:ea typeface="Calibri"/>
                <a:cs typeface="Calibri"/>
                <a:sym typeface="Calibri"/>
              </a:rPr>
              <a:t>Models commit tool arguments </a:t>
            </a:r>
            <a:r>
              <a:rPr b="0" i="1" lang="en-US" sz="2000">
                <a:solidFill>
                  <a:srgbClr val="63637E"/>
                </a:solidFill>
                <a:latin typeface="Calibri"/>
                <a:ea typeface="Calibri"/>
                <a:cs typeface="Calibri"/>
                <a:sym typeface="Calibri"/>
              </a:rPr>
              <a:t>before</a:t>
            </a:r>
            <a:r>
              <a:rPr b="0" i="0" lang="en-US" sz="2000">
                <a:solidFill>
                  <a:srgbClr val="63637E"/>
                </a:solidFill>
                <a:latin typeface="Calibri"/>
                <a:ea typeface="Calibri"/>
                <a:cs typeface="Calibri"/>
                <a:sym typeface="Calibri"/>
              </a:rPr>
              <a:t> the correction arrives, then can't roll back.</a:t>
            </a:r>
            <a:endParaRPr/>
          </a:p>
          <a:p>
            <a:pPr indent="-177800" lvl="0" marL="177800" rtl="0" algn="l">
              <a:lnSpc>
                <a:spcPct val="100000"/>
              </a:lnSpc>
              <a:spcBef>
                <a:spcPts val="800"/>
              </a:spcBef>
              <a:spcAft>
                <a:spcPts val="0"/>
              </a:spcAft>
              <a:buClr>
                <a:srgbClr val="63637E"/>
              </a:buClr>
              <a:buSzPts val="1800"/>
              <a:buFont typeface="Arial"/>
              <a:buChar char="•"/>
            </a:pPr>
            <a:r>
              <a:rPr b="0" i="0" lang="en-US" sz="2000">
                <a:solidFill>
                  <a:srgbClr val="63637E"/>
                </a:solidFill>
                <a:latin typeface="Calibri"/>
                <a:ea typeface="Calibri"/>
                <a:cs typeface="Calibri"/>
                <a:sym typeface="Calibri"/>
              </a:rPr>
              <a:t>Strict scoring: any extra tool call fails the scenario.</a:t>
            </a:r>
            <a:endParaRPr/>
          </a:p>
        </p:txBody>
      </p:sp>
      <p:sp>
        <p:nvSpPr>
          <p:cNvPr id="109" name="Google Shape;109;p16"/>
          <p:cNvSpPr txBox="1"/>
          <p:nvPr/>
        </p:nvSpPr>
        <p:spPr>
          <a:xfrm>
            <a:off x="841248" y="1481328"/>
            <a:ext cx="105156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63637E"/>
                </a:solidFill>
                <a:latin typeface="Calibri"/>
                <a:ea typeface="Calibri"/>
                <a:cs typeface="Calibri"/>
                <a:sym typeface="Calibri"/>
              </a:rPr>
              <a:t>Published FDB-v3 results (paper, arXiv 2604.04847)</a:t>
            </a:r>
            <a:endParaRPr/>
          </a:p>
        </p:txBody>
      </p:sp>
      <p:graphicFrame>
        <p:nvGraphicFramePr>
          <p:cNvPr id="110" name="Google Shape;110;p16"/>
          <p:cNvGraphicFramePr/>
          <p:nvPr/>
        </p:nvGraphicFramePr>
        <p:xfrm>
          <a:off x="932688" y="1828800"/>
          <a:ext cx="3000000" cy="3000000"/>
        </p:xfrm>
        <a:graphic>
          <a:graphicData uri="http://schemas.openxmlformats.org/drawingml/2006/table">
            <a:tbl>
              <a:tblPr bandRow="1" firstRow="1">
                <a:noFill/>
                <a:tableStyleId>{0D198B00-D2C7-4CC7-B19F-F896A1937A9B}</a:tableStyleId>
              </a:tblPr>
              <a:tblGrid>
                <a:gridCol w="3931925"/>
                <a:gridCol w="1280150"/>
                <a:gridCol w="1280150"/>
                <a:gridCol w="2286000"/>
                <a:gridCol w="1737350"/>
              </a:tblGrid>
              <a:tr h="402325">
                <a:tc>
                  <a:txBody>
                    <a:bodyPr/>
                    <a:lstStyle/>
                    <a:p>
                      <a:pPr indent="0" lvl="0" marL="0" marR="0" rtl="0" algn="l">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System</a:t>
                      </a:r>
                      <a:endParaRPr/>
                    </a:p>
                  </a:txBody>
                  <a:tcPr marT="36575" marB="36575" marR="91450" marL="91450" anchor="ctr">
                    <a:solidFill>
                      <a:srgbClr val="704EA6"/>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Tool-sel</a:t>
                      </a:r>
                      <a:endParaRPr/>
                    </a:p>
                  </a:txBody>
                  <a:tcPr marT="36575" marB="36575" marR="91450" marL="91450" anchor="ctr">
                    <a:solidFill>
                      <a:srgbClr val="704EA6"/>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Pass@1</a:t>
                      </a:r>
                      <a:endParaRPr/>
                    </a:p>
                  </a:txBody>
                  <a:tcPr marT="36575" marB="36575" marR="91450" marL="91450" anchor="ctr">
                    <a:solidFill>
                      <a:srgbClr val="704EA6"/>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Self-corr Pass@1</a:t>
                      </a:r>
                      <a:endParaRPr/>
                    </a:p>
                  </a:txBody>
                  <a:tcPr marT="36575" marB="36575" marR="91450" marL="91450" anchor="ctr">
                    <a:solidFill>
                      <a:srgbClr val="704EA6"/>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Interrupt</a:t>
                      </a:r>
                      <a:endParaRPr/>
                    </a:p>
                  </a:txBody>
                  <a:tcPr marT="36575" marB="36575" marR="91450" marL="91450" anchor="ctr">
                    <a:solidFill>
                      <a:srgbClr val="704EA6"/>
                    </a:solidFill>
                  </a:tcPr>
                </a:tc>
              </a:tr>
              <a:tr h="402325">
                <a:tc>
                  <a:txBody>
                    <a:bodyPr/>
                    <a:lstStyle/>
                    <a:p>
                      <a:pPr indent="0" lvl="0" marL="0" marR="0" rtl="0" algn="l">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GPT-Realtime</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0.876</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0.600</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2B2B40"/>
                          </a:solidFill>
                          <a:latin typeface="Calibri"/>
                          <a:ea typeface="Calibri"/>
                          <a:cs typeface="Calibri"/>
                          <a:sym typeface="Calibri"/>
                        </a:rPr>
                        <a:t>0.588</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13.5%</a:t>
                      </a:r>
                      <a:endParaRPr/>
                    </a:p>
                  </a:txBody>
                  <a:tcPr marT="36575" marB="36575" marR="91450" marL="91450" anchor="ctr">
                    <a:solidFill>
                      <a:srgbClr val="FFFFFF"/>
                    </a:solidFill>
                  </a:tcPr>
                </a:tc>
              </a:tr>
              <a:tr h="402325">
                <a:tc>
                  <a:txBody>
                    <a:bodyPr/>
                    <a:lstStyle/>
                    <a:p>
                      <a:pPr indent="0" lvl="0" marL="0" marR="0" rtl="0" algn="l">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Gemini Live 2.5</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0.786</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0.490</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2B2B40"/>
                          </a:solidFill>
                          <a:latin typeface="Calibri"/>
                          <a:ea typeface="Calibri"/>
                          <a:cs typeface="Calibri"/>
                          <a:sym typeface="Calibri"/>
                        </a:rPr>
                        <a:t>0.471</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14.1%</a:t>
                      </a:r>
                      <a:endParaRPr/>
                    </a:p>
                  </a:txBody>
                  <a:tcPr marT="36575" marB="36575" marR="91450" marL="91450" anchor="ctr">
                    <a:solidFill>
                      <a:srgbClr val="F1ECF9"/>
                    </a:solidFill>
                  </a:tcPr>
                </a:tc>
              </a:tr>
              <a:tr h="402325">
                <a:tc>
                  <a:txBody>
                    <a:bodyPr/>
                    <a:lstStyle/>
                    <a:p>
                      <a:pPr indent="0" lvl="0" marL="0" marR="0" rtl="0" algn="l">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Gemini Live 3.1</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0.817</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0.540</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2B2B40"/>
                          </a:solidFill>
                          <a:latin typeface="Calibri"/>
                          <a:ea typeface="Calibri"/>
                          <a:cs typeface="Calibri"/>
                          <a:sym typeface="Calibri"/>
                        </a:rPr>
                        <a:t>0.353</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19.2%</a:t>
                      </a:r>
                      <a:endParaRPr/>
                    </a:p>
                  </a:txBody>
                  <a:tcPr marT="36575" marB="36575" marR="91450" marL="91450" anchor="ctr">
                    <a:solidFill>
                      <a:srgbClr val="FFFFFF"/>
                    </a:solidFill>
                  </a:tcPr>
                </a:tc>
              </a:tr>
              <a:tr h="402325">
                <a:tc>
                  <a:txBody>
                    <a:bodyPr/>
                    <a:lstStyle/>
                    <a:p>
                      <a:pPr indent="0" lvl="0" marL="0" marR="0" rtl="0" algn="l">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Cascaded (Whisper→GPT-4o→TTS)</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0.803</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0.450</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1" i="0" lang="en-US" sz="1600" u="none" cap="none" strike="noStrike">
                          <a:solidFill>
                            <a:srgbClr val="2B2B40"/>
                          </a:solidFill>
                          <a:latin typeface="Calibri"/>
                          <a:ea typeface="Calibri"/>
                          <a:cs typeface="Calibri"/>
                          <a:sym typeface="Calibri"/>
                        </a:rPr>
                        <a:t>0.176</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600" u="none" cap="none" strike="noStrike">
                          <a:solidFill>
                            <a:srgbClr val="2B2B40"/>
                          </a:solidFill>
                          <a:latin typeface="Calibri"/>
                          <a:ea typeface="Calibri"/>
                          <a:cs typeface="Calibri"/>
                          <a:sym typeface="Calibri"/>
                        </a:rPr>
                        <a:t>33.0%</a:t>
                      </a:r>
                      <a:endParaRPr/>
                    </a:p>
                  </a:txBody>
                  <a:tcPr marT="36575" marB="36575" marR="91450" marL="91450" anchor="ctr">
                    <a:solidFill>
                      <a:srgbClr val="F1ECF9"/>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17"/>
          <p:cNvSpPr txBox="1"/>
          <p:nvPr>
            <p:ph type="title"/>
          </p:nvPr>
        </p:nvSpPr>
        <p:spPr>
          <a:xfrm>
            <a:off x="909917" y="2665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Our Solutions &amp; Architecture Diagram</a:t>
            </a:r>
            <a:endParaRPr/>
          </a:p>
        </p:txBody>
      </p:sp>
      <p:sp>
        <p:nvSpPr>
          <p:cNvPr id="116" name="Google Shape;116;p17"/>
          <p:cNvSpPr txBox="1"/>
          <p:nvPr>
            <p:ph idx="1" type="body"/>
          </p:nvPr>
        </p:nvSpPr>
        <p:spPr>
          <a:xfrm>
            <a:off x="8503920" y="1600200"/>
            <a:ext cx="3291840" cy="46634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i="0" lang="en-US" sz="2000">
                <a:solidFill>
                  <a:srgbClr val="704EA6"/>
                </a:solidFill>
                <a:latin typeface="Calibri"/>
                <a:ea typeface="Calibri"/>
                <a:cs typeface="Calibri"/>
                <a:sym typeface="Calibri"/>
              </a:rPr>
              <a:t>Why it works</a:t>
            </a:r>
            <a:endParaRPr/>
          </a:p>
          <a:p>
            <a:pPr indent="-177800" lvl="0" marL="177800" rtl="0" algn="l">
              <a:lnSpc>
                <a:spcPct val="100000"/>
              </a:lnSpc>
              <a:spcBef>
                <a:spcPts val="14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Stale calls</a:t>
            </a:r>
            <a:r>
              <a:rPr b="0" i="0" lang="en-US" sz="2000">
                <a:solidFill>
                  <a:srgbClr val="63637E"/>
                </a:solidFill>
                <a:latin typeface="Calibri"/>
                <a:ea typeface="Calibri"/>
                <a:cs typeface="Calibri"/>
                <a:sym typeface="Calibri"/>
              </a:rPr>
              <a:t> never reach the tool, so never count as extra calls.</a:t>
            </a:r>
            <a:endParaRPr/>
          </a:p>
          <a:p>
            <a:pPr indent="-177800" lvl="0" marL="177800" rtl="0" algn="l">
              <a:lnSpc>
                <a:spcPct val="100000"/>
              </a:lnSpc>
              <a:spcBef>
                <a:spcPts val="14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Resolver</a:t>
            </a:r>
            <a:r>
              <a:rPr b="0" i="0" lang="en-US" sz="2000">
                <a:solidFill>
                  <a:srgbClr val="63637E"/>
                </a:solidFill>
                <a:latin typeface="Calibri"/>
                <a:ea typeface="Calibri"/>
                <a:cs typeface="Calibri"/>
                <a:sym typeface="Calibri"/>
              </a:rPr>
              <a:t> only blocks corrected-away values. It never invents one.</a:t>
            </a:r>
            <a:endParaRPr/>
          </a:p>
          <a:p>
            <a:pPr indent="-177800" lvl="0" marL="177800" rtl="0" algn="l">
              <a:lnSpc>
                <a:spcPct val="100000"/>
              </a:lnSpc>
              <a:spcBef>
                <a:spcPts val="14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Repeats</a:t>
            </a:r>
            <a:r>
              <a:rPr b="0" i="0" lang="en-US" sz="2000">
                <a:solidFill>
                  <a:srgbClr val="63637E"/>
                </a:solidFill>
                <a:latin typeface="Calibri"/>
                <a:ea typeface="Calibri"/>
                <a:cs typeface="Calibri"/>
                <a:sym typeface="Calibri"/>
              </a:rPr>
              <a:t>: same-state repeats are refused; the original result is returned.</a:t>
            </a:r>
            <a:endParaRPr/>
          </a:p>
        </p:txBody>
      </p:sp>
      <p:sp>
        <p:nvSpPr>
          <p:cNvPr id="117" name="Google Shape;117;p17"/>
          <p:cNvSpPr/>
          <p:nvPr/>
        </p:nvSpPr>
        <p:spPr>
          <a:xfrm>
            <a:off x="548640" y="1600200"/>
            <a:ext cx="1371600" cy="822960"/>
          </a:xfrm>
          <a:prstGeom prst="roundRect">
            <a:avLst>
              <a:gd fmla="val 8000" name="adj"/>
            </a:avLst>
          </a:prstGeom>
          <a:solidFill>
            <a:srgbClr val="F1ECF9"/>
          </a:solidFill>
          <a:ln cap="flat" cmpd="sng" w="19050">
            <a:solidFill>
              <a:srgbClr val="704EA6"/>
            </a:solidFill>
            <a:prstDash val="solid"/>
            <a:round/>
            <a:headEnd len="sm" w="sm" type="none"/>
            <a:tailEnd len="sm" w="sm" type="none"/>
          </a:ln>
        </p:spPr>
        <p:txBody>
          <a:bodyPr anchorCtr="0" anchor="ctr" bIns="54850" lIns="109725" spcFirstLastPara="1" rIns="109725" wrap="square" tIns="5485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704EA6"/>
                </a:solidFill>
                <a:latin typeface="Calibri"/>
                <a:ea typeface="Calibri"/>
                <a:cs typeface="Calibri"/>
                <a:sym typeface="Calibri"/>
              </a:rPr>
              <a:t>User speech</a:t>
            </a:r>
            <a:endParaRPr/>
          </a:p>
        </p:txBody>
      </p:sp>
      <p:sp>
        <p:nvSpPr>
          <p:cNvPr id="118" name="Google Shape;118;p17"/>
          <p:cNvSpPr/>
          <p:nvPr/>
        </p:nvSpPr>
        <p:spPr>
          <a:xfrm>
            <a:off x="2331720" y="1600200"/>
            <a:ext cx="1371600" cy="822960"/>
          </a:xfrm>
          <a:prstGeom prst="roundRect">
            <a:avLst>
              <a:gd fmla="val 8000" name="adj"/>
            </a:avLst>
          </a:prstGeom>
          <a:solidFill>
            <a:srgbClr val="F1ECF9"/>
          </a:solidFill>
          <a:ln cap="flat" cmpd="sng" w="19050">
            <a:solidFill>
              <a:srgbClr val="704EA6"/>
            </a:solidFill>
            <a:prstDash val="solid"/>
            <a:round/>
            <a:headEnd len="sm" w="sm" type="none"/>
            <a:tailEnd len="sm" w="sm" type="none"/>
          </a:ln>
        </p:spPr>
        <p:txBody>
          <a:bodyPr anchorCtr="0" anchor="ctr" bIns="54850" lIns="109725" spcFirstLastPara="1" rIns="109725" wrap="square" tIns="5485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704EA6"/>
                </a:solidFill>
                <a:latin typeface="Calibri"/>
                <a:ea typeface="Calibri"/>
                <a:cs typeface="Calibri"/>
                <a:sym typeface="Calibri"/>
              </a:rPr>
              <a:t>LiveKit room</a:t>
            </a:r>
            <a:endParaRPr/>
          </a:p>
        </p:txBody>
      </p:sp>
      <p:sp>
        <p:nvSpPr>
          <p:cNvPr id="119" name="Google Shape;119;p17"/>
          <p:cNvSpPr/>
          <p:nvPr/>
        </p:nvSpPr>
        <p:spPr>
          <a:xfrm>
            <a:off x="4114800" y="1600200"/>
            <a:ext cx="4023360" cy="822960"/>
          </a:xfrm>
          <a:prstGeom prst="roundRect">
            <a:avLst>
              <a:gd fmla="val 8000" name="adj"/>
            </a:avLst>
          </a:prstGeom>
          <a:solidFill>
            <a:srgbClr val="F1ECF9"/>
          </a:solidFill>
          <a:ln cap="flat" cmpd="sng" w="19050">
            <a:solidFill>
              <a:srgbClr val="704EA6"/>
            </a:solidFill>
            <a:prstDash val="solid"/>
            <a:round/>
            <a:headEnd len="sm" w="sm" type="none"/>
            <a:tailEnd len="sm" w="sm" type="none"/>
          </a:ln>
        </p:spPr>
        <p:txBody>
          <a:bodyPr anchorCtr="0" anchor="ctr" bIns="54850" lIns="109725" spcFirstLastPara="1" rIns="109725" wrap="square" tIns="5485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704EA6"/>
                </a:solidFill>
                <a:latin typeface="Calibri"/>
                <a:ea typeface="Calibri"/>
                <a:cs typeface="Calibri"/>
                <a:sym typeface="Calibri"/>
              </a:rPr>
              <a:t>Gemini Live 2.5</a:t>
            </a:r>
            <a:endParaRPr/>
          </a:p>
          <a:p>
            <a:pPr indent="0" lvl="0" marL="0" marR="0" rtl="0" algn="ctr">
              <a:lnSpc>
                <a:spcPct val="100000"/>
              </a:lnSpc>
              <a:spcBef>
                <a:spcPts val="300"/>
              </a:spcBef>
              <a:spcAft>
                <a:spcPts val="0"/>
              </a:spcAft>
              <a:buClr>
                <a:srgbClr val="000000"/>
              </a:buClr>
              <a:buSzPts val="1400"/>
              <a:buFont typeface="Arial"/>
              <a:buNone/>
            </a:pPr>
            <a:r>
              <a:rPr b="0" i="0" lang="en-US" sz="1400" u="none" cap="none" strike="noStrike">
                <a:solidFill>
                  <a:srgbClr val="63637E"/>
                </a:solidFill>
                <a:latin typeface="Calibri"/>
                <a:ea typeface="Calibri"/>
                <a:cs typeface="Calibri"/>
                <a:sym typeface="Calibri"/>
              </a:rPr>
              <a:t>native audio: listen, reason, speak</a:t>
            </a:r>
            <a:endParaRPr/>
          </a:p>
        </p:txBody>
      </p:sp>
      <p:cxnSp>
        <p:nvCxnSpPr>
          <p:cNvPr id="120" name="Google Shape;120;p17"/>
          <p:cNvCxnSpPr>
            <a:stCxn id="117" idx="3"/>
            <a:endCxn id="118" idx="1"/>
          </p:cNvCxnSpPr>
          <p:nvPr/>
        </p:nvCxnSpPr>
        <p:spPr>
          <a:xfrm>
            <a:off x="1920240" y="2011680"/>
            <a:ext cx="411600" cy="0"/>
          </a:xfrm>
          <a:prstGeom prst="straightConnector1">
            <a:avLst/>
          </a:prstGeom>
          <a:noFill/>
          <a:ln cap="flat" cmpd="sng" w="25400">
            <a:solidFill>
              <a:srgbClr val="704EA6"/>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21" name="Google Shape;121;p17"/>
          <p:cNvCxnSpPr>
            <a:stCxn id="118" idx="3"/>
            <a:endCxn id="119" idx="1"/>
          </p:cNvCxnSpPr>
          <p:nvPr/>
        </p:nvCxnSpPr>
        <p:spPr>
          <a:xfrm>
            <a:off x="3703320" y="2011680"/>
            <a:ext cx="411600" cy="0"/>
          </a:xfrm>
          <a:prstGeom prst="straightConnector1">
            <a:avLst/>
          </a:prstGeom>
          <a:noFill/>
          <a:ln cap="flat" cmpd="sng" w="25400">
            <a:solidFill>
              <a:srgbClr val="704EA6"/>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22" name="Google Shape;122;p17"/>
          <p:cNvCxnSpPr/>
          <p:nvPr/>
        </p:nvCxnSpPr>
        <p:spPr>
          <a:xfrm>
            <a:off x="4572000" y="2423160"/>
            <a:ext cx="0" cy="685800"/>
          </a:xfrm>
          <a:prstGeom prst="straightConnector1">
            <a:avLst/>
          </a:prstGeom>
          <a:noFill/>
          <a:ln cap="flat" cmpd="sng" w="25400">
            <a:solidFill>
              <a:srgbClr val="704EA6"/>
            </a:solidFill>
            <a:prstDash val="solid"/>
            <a:round/>
            <a:headEnd len="sm" w="sm" type="none"/>
            <a:tailEnd len="med" w="med" type="triangle"/>
          </a:ln>
          <a:effectLst>
            <a:outerShdw blurRad="40000" rotWithShape="0" dir="5400000" dist="20000">
              <a:srgbClr val="000000">
                <a:alpha val="38039"/>
              </a:srgbClr>
            </a:outerShdw>
          </a:effectLst>
        </p:spPr>
      </p:cxnSp>
      <p:sp>
        <p:nvSpPr>
          <p:cNvPr id="123" name="Google Shape;123;p17"/>
          <p:cNvSpPr txBox="1"/>
          <p:nvPr/>
        </p:nvSpPr>
        <p:spPr>
          <a:xfrm>
            <a:off x="4663440" y="2542032"/>
            <a:ext cx="2011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63637E"/>
                </a:solidFill>
                <a:latin typeface="Calibri"/>
                <a:ea typeface="Calibri"/>
                <a:cs typeface="Calibri"/>
                <a:sym typeface="Calibri"/>
              </a:rPr>
              <a:t>proposed tool call</a:t>
            </a:r>
            <a:endParaRPr/>
          </a:p>
        </p:txBody>
      </p:sp>
      <p:sp>
        <p:nvSpPr>
          <p:cNvPr id="124" name="Google Shape;124;p17"/>
          <p:cNvSpPr/>
          <p:nvPr/>
        </p:nvSpPr>
        <p:spPr>
          <a:xfrm>
            <a:off x="548640" y="3108960"/>
            <a:ext cx="4480560" cy="2194560"/>
          </a:xfrm>
          <a:prstGeom prst="roundRect">
            <a:avLst>
              <a:gd fmla="val 8000" name="adj"/>
            </a:avLst>
          </a:prstGeom>
          <a:solidFill>
            <a:srgbClr val="F1ECF9"/>
          </a:solidFill>
          <a:ln cap="flat" cmpd="sng" w="31750">
            <a:solidFill>
              <a:srgbClr val="704EA6"/>
            </a:solidFill>
            <a:prstDash val="solid"/>
            <a:round/>
            <a:headEnd len="sm" w="sm" type="none"/>
            <a:tailEnd len="sm" w="sm" type="none"/>
          </a:ln>
        </p:spPr>
        <p:txBody>
          <a:bodyPr anchorCtr="0" anchor="t" bIns="54850" lIns="109725" spcFirstLastPara="1" rIns="109725" wrap="square" tIns="5485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704EA6"/>
                </a:solidFill>
                <a:latin typeface="Calibri"/>
                <a:ea typeface="Calibri"/>
                <a:cs typeface="Calibri"/>
                <a:sym typeface="Calibri"/>
              </a:rPr>
              <a:t>COMMIT GATE</a:t>
            </a:r>
            <a:endParaRPr/>
          </a:p>
          <a:p>
            <a:pPr indent="-177800" lvl="0" marL="177800" marR="0" rtl="0" algn="l">
              <a:lnSpc>
                <a:spcPct val="100000"/>
              </a:lnSpc>
              <a:spcBef>
                <a:spcPts val="600"/>
              </a:spcBef>
              <a:spcAft>
                <a:spcPts val="0"/>
              </a:spcAft>
              <a:buClr>
                <a:srgbClr val="63637E"/>
              </a:buClr>
              <a:buSzPts val="1700"/>
              <a:buFont typeface="Arial"/>
              <a:buChar char="•"/>
            </a:pPr>
            <a:r>
              <a:rPr b="0" i="0" lang="en-US" sz="1700" u="none" cap="none" strike="noStrike">
                <a:solidFill>
                  <a:srgbClr val="63637E"/>
                </a:solidFill>
                <a:latin typeface="Calibri"/>
                <a:ea typeface="Calibri"/>
                <a:cs typeface="Calibri"/>
                <a:sym typeface="Calibri"/>
              </a:rPr>
              <a:t>400 ms debounce buffer</a:t>
            </a:r>
            <a:endParaRPr/>
          </a:p>
          <a:p>
            <a:pPr indent="-177800" lvl="0" marL="177800" marR="0" rtl="0" algn="l">
              <a:lnSpc>
                <a:spcPct val="100000"/>
              </a:lnSpc>
              <a:spcBef>
                <a:spcPts val="300"/>
              </a:spcBef>
              <a:spcAft>
                <a:spcPts val="0"/>
              </a:spcAft>
              <a:buClr>
                <a:srgbClr val="63637E"/>
              </a:buClr>
              <a:buSzPts val="1700"/>
              <a:buFont typeface="Arial"/>
              <a:buChar char="•"/>
            </a:pPr>
            <a:r>
              <a:rPr b="0" i="0" lang="en-US" sz="1700" u="none" cap="none" strike="noStrike">
                <a:solidFill>
                  <a:srgbClr val="63637E"/>
                </a:solidFill>
                <a:latin typeface="Calibri"/>
                <a:ea typeface="Calibri"/>
                <a:cs typeface="Calibri"/>
                <a:sym typeface="Calibri"/>
              </a:rPr>
              <a:t>Newer same-tool call wins</a:t>
            </a:r>
            <a:endParaRPr/>
          </a:p>
          <a:p>
            <a:pPr indent="-177800" lvl="0" marL="177800" marR="0" rtl="0" algn="l">
              <a:lnSpc>
                <a:spcPct val="100000"/>
              </a:lnSpc>
              <a:spcBef>
                <a:spcPts val="300"/>
              </a:spcBef>
              <a:spcAft>
                <a:spcPts val="0"/>
              </a:spcAft>
              <a:buClr>
                <a:srgbClr val="63637E"/>
              </a:buClr>
              <a:buSzPts val="1700"/>
              <a:buFont typeface="Arial"/>
              <a:buChar char="•"/>
            </a:pPr>
            <a:r>
              <a:rPr b="0" i="0" lang="en-US" sz="1700" u="none" cap="none" strike="noStrike">
                <a:solidFill>
                  <a:srgbClr val="63637E"/>
                </a:solidFill>
                <a:latin typeface="Calibri"/>
                <a:ea typeface="Calibri"/>
                <a:cs typeface="Calibri"/>
                <a:sym typeface="Calibri"/>
              </a:rPr>
              <a:t>Block-only resolver</a:t>
            </a:r>
            <a:endParaRPr/>
          </a:p>
          <a:p>
            <a:pPr indent="-177800" lvl="0" marL="177800" marR="0" rtl="0" algn="l">
              <a:lnSpc>
                <a:spcPct val="100000"/>
              </a:lnSpc>
              <a:spcBef>
                <a:spcPts val="300"/>
              </a:spcBef>
              <a:spcAft>
                <a:spcPts val="0"/>
              </a:spcAft>
              <a:buClr>
                <a:srgbClr val="63637E"/>
              </a:buClr>
              <a:buSzPts val="1700"/>
              <a:buFont typeface="Arial"/>
              <a:buChar char="•"/>
            </a:pPr>
            <a:r>
              <a:rPr b="0" i="0" lang="en-US" sz="1700" u="none" cap="none" strike="noStrike">
                <a:solidFill>
                  <a:srgbClr val="63637E"/>
                </a:solidFill>
                <a:latin typeface="Calibri"/>
                <a:ea typeface="Calibri"/>
                <a:cs typeface="Calibri"/>
                <a:sym typeface="Calibri"/>
              </a:rPr>
              <a:t>Idempotency: no repeated actions</a:t>
            </a:r>
            <a:endParaRPr/>
          </a:p>
          <a:p>
            <a:pPr indent="-177800" lvl="0" marL="177800" marR="0" rtl="0" algn="l">
              <a:lnSpc>
                <a:spcPct val="100000"/>
              </a:lnSpc>
              <a:spcBef>
                <a:spcPts val="300"/>
              </a:spcBef>
              <a:spcAft>
                <a:spcPts val="0"/>
              </a:spcAft>
              <a:buClr>
                <a:srgbClr val="63637E"/>
              </a:buClr>
              <a:buSzPts val="1700"/>
              <a:buFont typeface="Arial"/>
              <a:buChar char="•"/>
            </a:pPr>
            <a:r>
              <a:rPr b="0" i="0" lang="en-US" sz="1700" u="none" cap="none" strike="noStrike">
                <a:solidFill>
                  <a:srgbClr val="63637E"/>
                </a:solidFill>
                <a:latin typeface="Calibri"/>
                <a:ea typeface="Calibri"/>
                <a:cs typeface="Calibri"/>
                <a:sym typeface="Calibri"/>
              </a:rPr>
              <a:t>Type-coercion guard</a:t>
            </a:r>
            <a:endParaRPr/>
          </a:p>
        </p:txBody>
      </p:sp>
      <p:sp>
        <p:nvSpPr>
          <p:cNvPr id="125" name="Google Shape;125;p17"/>
          <p:cNvSpPr/>
          <p:nvPr/>
        </p:nvSpPr>
        <p:spPr>
          <a:xfrm>
            <a:off x="5440680" y="3108960"/>
            <a:ext cx="2697480" cy="2194560"/>
          </a:xfrm>
          <a:prstGeom prst="roundRect">
            <a:avLst>
              <a:gd fmla="val 8000" name="adj"/>
            </a:avLst>
          </a:prstGeom>
          <a:solidFill>
            <a:srgbClr val="FFFFFF"/>
          </a:solidFill>
          <a:ln cap="flat" cmpd="sng" w="19050">
            <a:solidFill>
              <a:srgbClr val="704EA6"/>
            </a:solidFill>
            <a:prstDash val="dash"/>
            <a:round/>
            <a:headEnd len="sm" w="sm" type="none"/>
            <a:tailEnd len="sm" w="sm" type="none"/>
          </a:ln>
        </p:spPr>
        <p:txBody>
          <a:bodyPr anchorCtr="0" anchor="ctr" bIns="54850" lIns="109725" spcFirstLastPara="1" rIns="109725" wrap="square" tIns="5485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704EA6"/>
                </a:solidFill>
                <a:latin typeface="Calibri"/>
                <a:ea typeface="Calibri"/>
                <a:cs typeface="Calibri"/>
                <a:sym typeface="Calibri"/>
              </a:rPr>
              <a:t>Instructions layer</a:t>
            </a:r>
            <a:endParaRPr/>
          </a:p>
          <a:p>
            <a:pPr indent="0" lvl="0" marL="0" marR="0" rtl="0" algn="ctr">
              <a:lnSpc>
                <a:spcPct val="100000"/>
              </a:lnSpc>
              <a:spcBef>
                <a:spcPts val="300"/>
              </a:spcBef>
              <a:spcAft>
                <a:spcPts val="0"/>
              </a:spcAft>
              <a:buClr>
                <a:srgbClr val="000000"/>
              </a:buClr>
              <a:buSzPts val="1400"/>
              <a:buFont typeface="Arial"/>
              <a:buNone/>
            </a:pPr>
            <a:r>
              <a:rPr b="0" i="0" lang="en-US" sz="1400" u="none" cap="none" strike="noStrike">
                <a:solidFill>
                  <a:srgbClr val="63637E"/>
                </a:solidFill>
                <a:latin typeface="Calibri"/>
                <a:ea typeface="Calibri"/>
                <a:cs typeface="Calibri"/>
                <a:sym typeface="Calibri"/>
              </a:rPr>
              <a:t>Last value wins</a:t>
            </a:r>
            <a:endParaRPr/>
          </a:p>
          <a:p>
            <a:pPr indent="0" lvl="0" marL="0" marR="0" rtl="0" algn="ctr">
              <a:lnSpc>
                <a:spcPct val="100000"/>
              </a:lnSpc>
              <a:spcBef>
                <a:spcPts val="300"/>
              </a:spcBef>
              <a:spcAft>
                <a:spcPts val="0"/>
              </a:spcAft>
              <a:buClr>
                <a:srgbClr val="000000"/>
              </a:buClr>
              <a:buSzPts val="1400"/>
              <a:buFont typeface="Arial"/>
              <a:buNone/>
            </a:pPr>
            <a:r>
              <a:rPr b="0" i="0" lang="en-US" sz="1400" u="none" cap="none" strike="noStrike">
                <a:solidFill>
                  <a:srgbClr val="63637E"/>
                </a:solidFill>
                <a:latin typeface="Calibri"/>
                <a:ea typeface="Calibri"/>
                <a:cs typeface="Calibri"/>
                <a:sym typeface="Calibri"/>
              </a:rPr>
              <a:t>No premature speech</a:t>
            </a:r>
            <a:endParaRPr/>
          </a:p>
        </p:txBody>
      </p:sp>
      <p:cxnSp>
        <p:nvCxnSpPr>
          <p:cNvPr id="126" name="Google Shape;126;p17"/>
          <p:cNvCxnSpPr/>
          <p:nvPr/>
        </p:nvCxnSpPr>
        <p:spPr>
          <a:xfrm rot="10800000">
            <a:off x="6766560" y="2423160"/>
            <a:ext cx="0" cy="685800"/>
          </a:xfrm>
          <a:prstGeom prst="straightConnector1">
            <a:avLst/>
          </a:prstGeom>
          <a:noFill/>
          <a:ln cap="flat" cmpd="sng" w="25400">
            <a:solidFill>
              <a:srgbClr val="704EA6"/>
            </a:solidFill>
            <a:prstDash val="dash"/>
            <a:round/>
            <a:headEnd len="sm" w="sm" type="none"/>
            <a:tailEnd len="med" w="med" type="triangle"/>
          </a:ln>
          <a:effectLst>
            <a:outerShdw blurRad="40000" rotWithShape="0" dir="5400000" dist="20000">
              <a:srgbClr val="000000">
                <a:alpha val="38039"/>
              </a:srgbClr>
            </a:outerShdw>
          </a:effectLst>
        </p:spPr>
      </p:cxnSp>
      <p:sp>
        <p:nvSpPr>
          <p:cNvPr id="127" name="Google Shape;127;p17"/>
          <p:cNvSpPr/>
          <p:nvPr/>
        </p:nvSpPr>
        <p:spPr>
          <a:xfrm>
            <a:off x="548640" y="5715000"/>
            <a:ext cx="4480560" cy="594360"/>
          </a:xfrm>
          <a:prstGeom prst="roundRect">
            <a:avLst>
              <a:gd fmla="val 8000" name="adj"/>
            </a:avLst>
          </a:prstGeom>
          <a:solidFill>
            <a:srgbClr val="F1ECF9"/>
          </a:solidFill>
          <a:ln cap="flat" cmpd="sng" w="19050">
            <a:solidFill>
              <a:srgbClr val="704EA6"/>
            </a:solidFill>
            <a:prstDash val="solid"/>
            <a:round/>
            <a:headEnd len="sm" w="sm" type="none"/>
            <a:tailEnd len="sm" w="sm" type="none"/>
          </a:ln>
        </p:spPr>
        <p:txBody>
          <a:bodyPr anchorCtr="0" anchor="ctr" bIns="54850" lIns="109725" spcFirstLastPara="1" rIns="109725" wrap="square" tIns="5485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704EA6"/>
                </a:solidFill>
                <a:latin typeface="Calibri"/>
                <a:ea typeface="Calibri"/>
                <a:cs typeface="Calibri"/>
                <a:sym typeface="Calibri"/>
              </a:rPr>
              <a:t>Mock tools → result → spoken answer</a:t>
            </a:r>
            <a:endParaRPr/>
          </a:p>
        </p:txBody>
      </p:sp>
      <p:cxnSp>
        <p:nvCxnSpPr>
          <p:cNvPr id="128" name="Google Shape;128;p17"/>
          <p:cNvCxnSpPr>
            <a:stCxn id="124" idx="2"/>
            <a:endCxn id="127" idx="0"/>
          </p:cNvCxnSpPr>
          <p:nvPr/>
        </p:nvCxnSpPr>
        <p:spPr>
          <a:xfrm>
            <a:off x="2788920" y="5303520"/>
            <a:ext cx="0" cy="411600"/>
          </a:xfrm>
          <a:prstGeom prst="straightConnector1">
            <a:avLst/>
          </a:prstGeom>
          <a:noFill/>
          <a:ln cap="flat" cmpd="sng" w="25400">
            <a:solidFill>
              <a:srgbClr val="704EA6"/>
            </a:solidFill>
            <a:prstDash val="solid"/>
            <a:round/>
            <a:headEnd len="sm" w="sm" type="none"/>
            <a:tailEnd len="med" w="med" type="triangle"/>
          </a:ln>
          <a:effectLst>
            <a:outerShdw blurRad="40000" rotWithShape="0" dir="5400000" dist="20000">
              <a:srgbClr val="000000">
                <a:alpha val="38039"/>
              </a:srgbClr>
            </a:outerShdw>
          </a:effectLst>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34" name="Google Shape;134;p18"/>
          <p:cNvSpPr txBox="1"/>
          <p:nvPr>
            <p:ph idx="1" type="body"/>
          </p:nvPr>
        </p:nvSpPr>
        <p:spPr>
          <a:xfrm>
            <a:off x="841250" y="1600200"/>
            <a:ext cx="6140700" cy="4663500"/>
          </a:xfrm>
          <a:prstGeom prst="rect">
            <a:avLst/>
          </a:prstGeom>
          <a:noFill/>
          <a:ln>
            <a:noFill/>
          </a:ln>
        </p:spPr>
        <p:txBody>
          <a:bodyPr anchorCtr="0" anchor="t" bIns="45700" lIns="91425" spcFirstLastPara="1" rIns="91425" wrap="square" tIns="45700">
            <a:normAutofit lnSpcReduction="10000"/>
          </a:bodyPr>
          <a:lstStyle/>
          <a:p>
            <a:pPr indent="-177800" lvl="0" marL="177800" rtl="0" algn="l">
              <a:lnSpc>
                <a:spcPct val="100000"/>
              </a:lnSpc>
              <a:spcBef>
                <a:spcPts val="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Video: </a:t>
            </a:r>
            <a:endParaRPr/>
          </a:p>
          <a:p>
            <a:pPr indent="-177800" lvl="0" marL="177800" rtl="0" algn="l">
              <a:lnSpc>
                <a:spcPct val="100000"/>
              </a:lnSpc>
              <a:spcBef>
                <a:spcPts val="14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1. Benchmark interruption: </a:t>
            </a:r>
            <a:r>
              <a:rPr b="0" i="0" lang="en-US" sz="2000">
                <a:solidFill>
                  <a:srgbClr val="63637E"/>
                </a:solidFill>
                <a:latin typeface="Calibri"/>
                <a:ea typeface="Calibri"/>
                <a:cs typeface="Calibri"/>
                <a:sym typeface="Calibri"/>
              </a:rPr>
              <a:t>user corrects a value mid-sentence; only the corrected call runs.</a:t>
            </a:r>
            <a:endParaRPr/>
          </a:p>
          <a:p>
            <a:pPr indent="-177800" lvl="0" marL="177800" rtl="0" algn="l">
              <a:lnSpc>
                <a:spcPct val="100000"/>
              </a:lnSpc>
              <a:spcBef>
                <a:spcPts val="14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2. Extension: </a:t>
            </a:r>
            <a:r>
              <a:rPr b="0" i="0" lang="en-US" sz="2000">
                <a:solidFill>
                  <a:srgbClr val="63637E"/>
                </a:solidFill>
                <a:latin typeface="Calibri"/>
                <a:ea typeface="Calibri"/>
                <a:cs typeface="Calibri"/>
                <a:sym typeface="Calibri"/>
              </a:rPr>
              <a:t>voice device-troubleshooting with one photo sent mid-conversation.</a:t>
            </a:r>
            <a:endParaRPr/>
          </a:p>
          <a:p>
            <a:pPr indent="-177800" lvl="0" marL="177800" rtl="0" algn="l">
              <a:lnSpc>
                <a:spcPct val="100000"/>
              </a:lnSpc>
              <a:spcBef>
                <a:spcPts val="14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3. Safety: </a:t>
            </a:r>
            <a:r>
              <a:rPr b="0" i="0" lang="en-US" sz="2000">
                <a:solidFill>
                  <a:srgbClr val="63637E"/>
                </a:solidFill>
                <a:latin typeface="Calibri"/>
                <a:ea typeface="Calibri"/>
                <a:cs typeface="Calibri"/>
                <a:sym typeface="Calibri"/>
              </a:rPr>
              <a:t>risky action (network reset) needs spoken confirmation first.</a:t>
            </a:r>
            <a:endParaRPr/>
          </a:p>
          <a:p>
            <a:pPr indent="-177800" lvl="0" marL="177800" rtl="0" algn="l">
              <a:lnSpc>
                <a:spcPct val="100000"/>
              </a:lnSpc>
              <a:spcBef>
                <a:spcPts val="14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4. Dashboard: </a:t>
            </a:r>
            <a:r>
              <a:rPr b="0" i="0" lang="en-US" sz="2000">
                <a:solidFill>
                  <a:srgbClr val="63637E"/>
                </a:solidFill>
                <a:latin typeface="Calibri"/>
                <a:ea typeface="Calibri"/>
                <a:cs typeface="Calibri"/>
                <a:sym typeface="Calibri"/>
              </a:rPr>
              <a:t>Results, Explorer, Architecture and Live tabs, with trace replay.</a:t>
            </a:r>
            <a:endParaRPr b="0" i="0" sz="2000">
              <a:solidFill>
                <a:srgbClr val="63637E"/>
              </a:solidFill>
              <a:latin typeface="Calibri"/>
              <a:ea typeface="Calibri"/>
              <a:cs typeface="Calibri"/>
              <a:sym typeface="Calibri"/>
            </a:endParaRPr>
          </a:p>
          <a:p>
            <a:pPr indent="-190500" lvl="0" marL="177800" rtl="0" algn="l">
              <a:lnSpc>
                <a:spcPct val="100000"/>
              </a:lnSpc>
              <a:spcBef>
                <a:spcPts val="1400"/>
              </a:spcBef>
              <a:spcAft>
                <a:spcPts val="0"/>
              </a:spcAft>
              <a:buClr>
                <a:srgbClr val="63637E"/>
              </a:buClr>
              <a:buSzPts val="2000"/>
              <a:buChar char="•"/>
            </a:pPr>
            <a:r>
              <a:rPr lang="en-US" sz="2000">
                <a:solidFill>
                  <a:srgbClr val="63637E"/>
                </a:solidFill>
              </a:rPr>
              <a:t>Demo video link: https://drive.google.com/file/d/1kqbIyN5YhHlZWFFSIaKNAARn_bSJXXYZ/view?usp=drivesdk</a:t>
            </a:r>
            <a:endParaRPr sz="2000">
              <a:solidFill>
                <a:srgbClr val="63637E"/>
              </a:solidFill>
            </a:endParaRPr>
          </a:p>
        </p:txBody>
      </p:sp>
      <p:pic>
        <p:nvPicPr>
          <p:cNvPr id="135" name="Google Shape;135;p18"/>
          <p:cNvPicPr preferRelativeResize="0"/>
          <p:nvPr/>
        </p:nvPicPr>
        <p:blipFill>
          <a:blip r:embed="rId3">
            <a:alphaModFix/>
          </a:blip>
          <a:stretch>
            <a:fillRect/>
          </a:stretch>
        </p:blipFill>
        <p:spPr>
          <a:xfrm>
            <a:off x="7181007" y="1691650"/>
            <a:ext cx="4798716" cy="2103100"/>
          </a:xfrm>
          <a:prstGeom prst="rect">
            <a:avLst/>
          </a:prstGeom>
          <a:noFill/>
          <a:ln>
            <a:noFill/>
          </a:ln>
        </p:spPr>
      </p:pic>
      <p:pic>
        <p:nvPicPr>
          <p:cNvPr id="136" name="Google Shape;136;p18"/>
          <p:cNvPicPr preferRelativeResize="0"/>
          <p:nvPr/>
        </p:nvPicPr>
        <p:blipFill>
          <a:blip r:embed="rId4">
            <a:alphaModFix/>
          </a:blip>
          <a:stretch>
            <a:fillRect/>
          </a:stretch>
        </p:blipFill>
        <p:spPr>
          <a:xfrm>
            <a:off x="7134350" y="3947150"/>
            <a:ext cx="4905251" cy="18394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Tools and tech stack used</a:t>
            </a:r>
            <a:endParaRPr b="1">
              <a:solidFill>
                <a:srgbClr val="704EA6"/>
              </a:solidFill>
            </a:endParaRPr>
          </a:p>
        </p:txBody>
      </p:sp>
      <p:sp>
        <p:nvSpPr>
          <p:cNvPr id="142" name="Google Shape;142;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100000"/>
              </a:lnSpc>
              <a:spcBef>
                <a:spcPts val="0"/>
              </a:spcBef>
              <a:spcAft>
                <a:spcPts val="0"/>
              </a:spcAft>
              <a:buClr>
                <a:srgbClr val="63637E"/>
              </a:buClr>
              <a:buSzPts val="1800"/>
              <a:buFont typeface="Arial"/>
              <a:buChar char="•"/>
            </a:pPr>
            <a:r>
              <a:rPr b="1" i="0" lang="en-US" sz="2400">
                <a:solidFill>
                  <a:srgbClr val="704EA6"/>
                </a:solidFill>
                <a:latin typeface="Calibri"/>
                <a:ea typeface="Calibri"/>
                <a:cs typeface="Calibri"/>
                <a:sym typeface="Calibri"/>
              </a:rPr>
              <a:t>Voice model: </a:t>
            </a:r>
            <a:r>
              <a:rPr b="0" i="0" lang="en-US" sz="2400">
                <a:solidFill>
                  <a:srgbClr val="63637E"/>
                </a:solidFill>
                <a:latin typeface="Calibri"/>
                <a:ea typeface="Calibri"/>
                <a:cs typeface="Calibri"/>
                <a:sym typeface="Calibri"/>
              </a:rPr>
              <a:t>Gemini 2.5 Flash native audio via Live API </a:t>
            </a:r>
            <a:endParaRPr/>
          </a:p>
          <a:p>
            <a:pPr indent="-177800" lvl="0" marL="177800" rtl="0" algn="l">
              <a:lnSpc>
                <a:spcPct val="100000"/>
              </a:lnSpc>
              <a:spcBef>
                <a:spcPts val="1800"/>
              </a:spcBef>
              <a:spcAft>
                <a:spcPts val="0"/>
              </a:spcAft>
              <a:buClr>
                <a:srgbClr val="63637E"/>
              </a:buClr>
              <a:buSzPts val="1800"/>
              <a:buFont typeface="Arial"/>
              <a:buChar char="•"/>
            </a:pPr>
            <a:r>
              <a:rPr b="1" i="0" lang="en-US" sz="2400">
                <a:solidFill>
                  <a:srgbClr val="704EA6"/>
                </a:solidFill>
                <a:latin typeface="Calibri"/>
                <a:ea typeface="Calibri"/>
                <a:cs typeface="Calibri"/>
                <a:sym typeface="Calibri"/>
              </a:rPr>
              <a:t>Framework: </a:t>
            </a:r>
            <a:r>
              <a:rPr b="0" i="0" lang="en-US" sz="2400">
                <a:solidFill>
                  <a:srgbClr val="63637E"/>
                </a:solidFill>
                <a:latin typeface="Calibri"/>
                <a:ea typeface="Calibri"/>
                <a:cs typeface="Calibri"/>
                <a:sym typeface="Calibri"/>
              </a:rPr>
              <a:t>LiveKit Agents (Python) + LiveKit Cloud</a:t>
            </a:r>
            <a:endParaRPr/>
          </a:p>
          <a:p>
            <a:pPr indent="-177800" lvl="0" marL="177800" rtl="0" algn="l">
              <a:lnSpc>
                <a:spcPct val="100000"/>
              </a:lnSpc>
              <a:spcBef>
                <a:spcPts val="1800"/>
              </a:spcBef>
              <a:spcAft>
                <a:spcPts val="0"/>
              </a:spcAft>
              <a:buClr>
                <a:srgbClr val="63637E"/>
              </a:buClr>
              <a:buSzPts val="1800"/>
              <a:buFont typeface="Arial"/>
              <a:buChar char="•"/>
            </a:pPr>
            <a:r>
              <a:rPr b="1" i="0" lang="en-US" sz="2400">
                <a:solidFill>
                  <a:srgbClr val="704EA6"/>
                </a:solidFill>
                <a:latin typeface="Calibri"/>
                <a:ea typeface="Calibri"/>
                <a:cs typeface="Calibri"/>
                <a:sym typeface="Calibri"/>
              </a:rPr>
              <a:t>Benchmark: </a:t>
            </a:r>
            <a:r>
              <a:rPr b="0" i="0" lang="en-US" sz="2400">
                <a:solidFill>
                  <a:srgbClr val="63637E"/>
                </a:solidFill>
                <a:latin typeface="Calibri"/>
                <a:ea typeface="Calibri"/>
                <a:cs typeface="Calibri"/>
                <a:sym typeface="Calibri"/>
              </a:rPr>
              <a:t>Full-Duplex-Bench v3 (commit 3e799c4, 6 patches), NVIDIA NeMo scoring</a:t>
            </a:r>
            <a:endParaRPr/>
          </a:p>
          <a:p>
            <a:pPr indent="-177800" lvl="0" marL="177800" rtl="0" algn="l">
              <a:lnSpc>
                <a:spcPct val="100000"/>
              </a:lnSpc>
              <a:spcBef>
                <a:spcPts val="1800"/>
              </a:spcBef>
              <a:spcAft>
                <a:spcPts val="0"/>
              </a:spcAft>
              <a:buClr>
                <a:srgbClr val="63637E"/>
              </a:buClr>
              <a:buSzPts val="1800"/>
              <a:buFont typeface="Arial"/>
              <a:buChar char="•"/>
            </a:pPr>
            <a:r>
              <a:rPr b="1" i="0" lang="en-US" sz="2400">
                <a:solidFill>
                  <a:srgbClr val="704EA6"/>
                </a:solidFill>
                <a:latin typeface="Calibri"/>
                <a:ea typeface="Calibri"/>
                <a:cs typeface="Calibri"/>
                <a:sym typeface="Calibri"/>
              </a:rPr>
              <a:t>Our code: </a:t>
            </a:r>
            <a:r>
              <a:rPr b="0" i="0" lang="en-US" sz="2400">
                <a:solidFill>
                  <a:srgbClr val="63637E"/>
                </a:solidFill>
                <a:latin typeface="Calibri"/>
                <a:ea typeface="Calibri"/>
                <a:cs typeface="Calibri"/>
                <a:sym typeface="Calibri"/>
              </a:rPr>
              <a:t>commit gate, resolver, instructions layer, extension agent, dashboard</a:t>
            </a:r>
            <a:endParaRPr/>
          </a:p>
          <a:p>
            <a:pPr indent="-177800" lvl="0" marL="177800" rtl="0" algn="l">
              <a:lnSpc>
                <a:spcPct val="100000"/>
              </a:lnSpc>
              <a:spcBef>
                <a:spcPts val="1800"/>
              </a:spcBef>
              <a:spcAft>
                <a:spcPts val="0"/>
              </a:spcAft>
              <a:buClr>
                <a:srgbClr val="63637E"/>
              </a:buClr>
              <a:buSzPts val="1800"/>
              <a:buFont typeface="Arial"/>
              <a:buChar char="•"/>
            </a:pPr>
            <a:r>
              <a:rPr b="1" i="0" lang="en-US" sz="2400">
                <a:solidFill>
                  <a:srgbClr val="704EA6"/>
                </a:solidFill>
                <a:latin typeface="Calibri"/>
                <a:ea typeface="Calibri"/>
                <a:cs typeface="Calibri"/>
                <a:sym typeface="Calibri"/>
              </a:rPr>
              <a:t>Reproducibility: </a:t>
            </a:r>
            <a:r>
              <a:rPr b="0" i="0" lang="en-US" sz="2400">
                <a:solidFill>
                  <a:srgbClr val="63637E"/>
                </a:solidFill>
                <a:latin typeface="Calibri"/>
                <a:ea typeface="Calibri"/>
                <a:cs typeface="Calibri"/>
                <a:sym typeface="Calibri"/>
              </a:rPr>
              <a:t>one-command scripts/run_fdb_v3.sh, fresh-clone Docker test, pinned versions</a:t>
            </a:r>
            <a:endParaRPr/>
          </a:p>
          <a:p>
            <a:pPr indent="-177800" lvl="0" marL="177800" rtl="0" algn="l">
              <a:lnSpc>
                <a:spcPct val="100000"/>
              </a:lnSpc>
              <a:spcBef>
                <a:spcPts val="1800"/>
              </a:spcBef>
              <a:spcAft>
                <a:spcPts val="0"/>
              </a:spcAft>
              <a:buClr>
                <a:srgbClr val="63637E"/>
              </a:buClr>
              <a:buSzPts val="1800"/>
              <a:buFont typeface="Arial"/>
              <a:buChar char="•"/>
            </a:pPr>
            <a:r>
              <a:rPr b="1" i="0" lang="en-US" sz="2400">
                <a:solidFill>
                  <a:srgbClr val="704EA6"/>
                </a:solidFill>
                <a:latin typeface="Calibri"/>
                <a:ea typeface="Calibri"/>
                <a:cs typeface="Calibri"/>
                <a:sym typeface="Calibri"/>
              </a:rPr>
              <a:t>Testing: </a:t>
            </a:r>
            <a:r>
              <a:rPr b="0" i="0" lang="en-US" sz="2400">
                <a:solidFill>
                  <a:srgbClr val="63637E"/>
                </a:solidFill>
                <a:latin typeface="Calibri"/>
                <a:ea typeface="Calibri"/>
                <a:cs typeface="Calibri"/>
                <a:sym typeface="Calibri"/>
              </a:rPr>
              <a:t>pytest; self-written disfluency examples only (no benchmark answers)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a:t>
            </a:r>
            <a:endParaRPr b="1">
              <a:solidFill>
                <a:srgbClr val="704EA6"/>
              </a:solidFill>
            </a:endParaRPr>
          </a:p>
        </p:txBody>
      </p:sp>
      <p:sp>
        <p:nvSpPr>
          <p:cNvPr id="148" name="Google Shape;148;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i="0" lang="en-US" sz="2200">
                <a:solidFill>
                  <a:srgbClr val="704EA6"/>
                </a:solidFill>
                <a:latin typeface="Calibri"/>
                <a:ea typeface="Calibri"/>
                <a:cs typeface="Calibri"/>
                <a:sym typeface="Calibri"/>
              </a:rPr>
              <a:t>Where interruptions matter</a:t>
            </a:r>
            <a:endParaRPr/>
          </a:p>
          <a:p>
            <a:pPr indent="-177800" lvl="0" marL="177800" rtl="0" algn="l">
              <a:lnSpc>
                <a:spcPct val="100000"/>
              </a:lnSpc>
              <a:spcBef>
                <a:spcPts val="400"/>
              </a:spcBef>
              <a:spcAft>
                <a:spcPts val="0"/>
              </a:spcAft>
              <a:buClr>
                <a:srgbClr val="63637E"/>
              </a:buClr>
              <a:buSzPts val="1800"/>
              <a:buFont typeface="Arial"/>
              <a:buChar char="•"/>
            </a:pPr>
            <a:r>
              <a:rPr b="0" i="0" lang="en-US" sz="2200">
                <a:solidFill>
                  <a:srgbClr val="63637E"/>
                </a:solidFill>
                <a:latin typeface="Calibri"/>
                <a:ea typeface="Calibri"/>
                <a:cs typeface="Calibri"/>
                <a:sym typeface="Calibri"/>
              </a:rPr>
              <a:t>In-car assistants, customer support, smart-home and phone assistants.</a:t>
            </a:r>
            <a:endParaRPr/>
          </a:p>
          <a:p>
            <a:pPr indent="0" lvl="0" marL="0" rtl="0" algn="l">
              <a:lnSpc>
                <a:spcPct val="100000"/>
              </a:lnSpc>
              <a:spcBef>
                <a:spcPts val="1400"/>
              </a:spcBef>
              <a:spcAft>
                <a:spcPts val="0"/>
              </a:spcAft>
              <a:buSzPts val="1800"/>
              <a:buNone/>
            </a:pPr>
            <a:r>
              <a:rPr b="1" i="0" lang="en-US" sz="2200">
                <a:solidFill>
                  <a:srgbClr val="704EA6"/>
                </a:solidFill>
                <a:latin typeface="Calibri"/>
                <a:ea typeface="Calibri"/>
                <a:cs typeface="Calibri"/>
                <a:sym typeface="Calibri"/>
              </a:rPr>
              <a:t>Our extension: voice device-troubleshooting assistant</a:t>
            </a:r>
            <a:endParaRPr/>
          </a:p>
          <a:p>
            <a:pPr indent="-177800" lvl="0" marL="177800" rtl="0" algn="l">
              <a:lnSpc>
                <a:spcPct val="100000"/>
              </a:lnSpc>
              <a:spcBef>
                <a:spcPts val="400"/>
              </a:spcBef>
              <a:spcAft>
                <a:spcPts val="0"/>
              </a:spcAft>
              <a:buClr>
                <a:srgbClr val="63637E"/>
              </a:buClr>
              <a:buSzPts val="1800"/>
              <a:buFont typeface="Arial"/>
              <a:buChar char="•"/>
            </a:pPr>
            <a:r>
              <a:rPr b="0" i="0" lang="en-US" sz="2200">
                <a:solidFill>
                  <a:srgbClr val="63637E"/>
                </a:solidFill>
                <a:latin typeface="Calibri"/>
                <a:ea typeface="Calibri"/>
                <a:cs typeface="Calibri"/>
                <a:sym typeface="Calibri"/>
              </a:rPr>
              <a:t>User describes the problem by voice and can send one photo.</a:t>
            </a:r>
            <a:endParaRPr/>
          </a:p>
          <a:p>
            <a:pPr indent="-177800" lvl="0" marL="177800" rtl="0" algn="l">
              <a:lnSpc>
                <a:spcPct val="100000"/>
              </a:lnSpc>
              <a:spcBef>
                <a:spcPts val="800"/>
              </a:spcBef>
              <a:spcAft>
                <a:spcPts val="0"/>
              </a:spcAft>
              <a:buClr>
                <a:srgbClr val="63637E"/>
              </a:buClr>
              <a:buSzPts val="1800"/>
              <a:buFont typeface="Arial"/>
              <a:buChar char="•"/>
            </a:pPr>
            <a:r>
              <a:rPr b="0" i="0" lang="en-US" sz="2200">
                <a:solidFill>
                  <a:srgbClr val="63637E"/>
                </a:solidFill>
                <a:latin typeface="Calibri"/>
                <a:ea typeface="Calibri"/>
                <a:cs typeface="Calibri"/>
                <a:sym typeface="Calibri"/>
              </a:rPr>
              <a:t>Agent runs diagnostic tools while the conversation continues.</a:t>
            </a:r>
            <a:endParaRPr/>
          </a:p>
          <a:p>
            <a:pPr indent="-177800" lvl="0" marL="177800" rtl="0" algn="l">
              <a:lnSpc>
                <a:spcPct val="100000"/>
              </a:lnSpc>
              <a:spcBef>
                <a:spcPts val="800"/>
              </a:spcBef>
              <a:spcAft>
                <a:spcPts val="0"/>
              </a:spcAft>
              <a:buClr>
                <a:srgbClr val="63637E"/>
              </a:buClr>
              <a:buSzPts val="1800"/>
              <a:buFont typeface="Arial"/>
              <a:buChar char="•"/>
            </a:pPr>
            <a:r>
              <a:rPr b="0" i="0" lang="en-US" sz="2200">
                <a:solidFill>
                  <a:srgbClr val="63637E"/>
                </a:solidFill>
                <a:latin typeface="Calibri"/>
                <a:ea typeface="Calibri"/>
                <a:cs typeface="Calibri"/>
                <a:sym typeface="Calibri"/>
              </a:rPr>
              <a:t>Mid-sentence corrections (“Wi-Fi — no, Bluetooth”) retarget the diagnosis.</a:t>
            </a:r>
            <a:endParaRPr/>
          </a:p>
          <a:p>
            <a:pPr indent="-177800" lvl="0" marL="177800" rtl="0" algn="l">
              <a:lnSpc>
                <a:spcPct val="100000"/>
              </a:lnSpc>
              <a:spcBef>
                <a:spcPts val="800"/>
              </a:spcBef>
              <a:spcAft>
                <a:spcPts val="0"/>
              </a:spcAft>
              <a:buClr>
                <a:srgbClr val="63637E"/>
              </a:buClr>
              <a:buSzPts val="1800"/>
              <a:buFont typeface="Arial"/>
              <a:buChar char="•"/>
            </a:pPr>
            <a:r>
              <a:rPr b="0" i="0" lang="en-US" sz="2200">
                <a:solidFill>
                  <a:srgbClr val="63637E"/>
                </a:solidFill>
                <a:latin typeface="Calibri"/>
                <a:ea typeface="Calibri"/>
                <a:cs typeface="Calibri"/>
                <a:sym typeface="Calibri"/>
              </a:rPr>
              <a:t>Risky actions (reset network settings) need an explicit spoken “yes”.</a:t>
            </a:r>
            <a:endParaRPr/>
          </a:p>
          <a:p>
            <a:pPr indent="0" lvl="0" marL="0" rtl="0" algn="l">
              <a:lnSpc>
                <a:spcPct val="100000"/>
              </a:lnSpc>
              <a:spcBef>
                <a:spcPts val="1400"/>
              </a:spcBef>
              <a:spcAft>
                <a:spcPts val="0"/>
              </a:spcAft>
              <a:buSzPts val="1800"/>
              <a:buNone/>
            </a:pPr>
            <a:r>
              <a:rPr b="1" i="0" lang="en-US" sz="2200">
                <a:solidFill>
                  <a:srgbClr val="704EA6"/>
                </a:solidFill>
                <a:latin typeface="Calibri"/>
                <a:ea typeface="Calibri"/>
                <a:cs typeface="Calibri"/>
                <a:sym typeface="Calibri"/>
              </a:rPr>
              <a:t>Impact</a:t>
            </a:r>
            <a:endParaRPr/>
          </a:p>
          <a:p>
            <a:pPr indent="-177800" lvl="0" marL="177800" rtl="0" algn="l">
              <a:lnSpc>
                <a:spcPct val="100000"/>
              </a:lnSpc>
              <a:spcBef>
                <a:spcPts val="400"/>
              </a:spcBef>
              <a:spcAft>
                <a:spcPts val="0"/>
              </a:spcAft>
              <a:buClr>
                <a:srgbClr val="63637E"/>
              </a:buClr>
              <a:buSzPts val="1800"/>
              <a:buFont typeface="Arial"/>
              <a:buChar char="•"/>
            </a:pPr>
            <a:r>
              <a:rPr b="0" i="0" lang="en-US" sz="2200">
                <a:solidFill>
                  <a:srgbClr val="63637E"/>
                </a:solidFill>
                <a:latin typeface="Calibri"/>
                <a:ea typeface="Calibri"/>
                <a:cs typeface="Calibri"/>
                <a:sym typeface="Calibri"/>
              </a:rPr>
              <a:t>Fewer wrong actions and no duplicate changes, so users trust it more.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154" name="Google Shape;154;p21"/>
          <p:cNvSpPr txBox="1"/>
          <p:nvPr>
            <p:ph idx="1" type="body"/>
          </p:nvPr>
        </p:nvSpPr>
        <p:spPr>
          <a:xfrm>
            <a:off x="841248" y="4754880"/>
            <a:ext cx="5120640" cy="173736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i="0" lang="en-US" sz="2000">
                <a:solidFill>
                  <a:srgbClr val="704EA6"/>
                </a:solidFill>
                <a:latin typeface="Calibri"/>
                <a:ea typeface="Calibri"/>
                <a:cs typeface="Calibri"/>
                <a:sym typeface="Calibri"/>
              </a:rPr>
              <a:t>Highlights</a:t>
            </a:r>
            <a:endParaRPr/>
          </a:p>
          <a:p>
            <a:pPr indent="-177800" lvl="0" marL="177800" rtl="0" algn="l">
              <a:lnSpc>
                <a:spcPct val="100000"/>
              </a:lnSpc>
              <a:spcBef>
                <a:spcPts val="400"/>
              </a:spcBef>
              <a:spcAft>
                <a:spcPts val="0"/>
              </a:spcAft>
              <a:buClr>
                <a:srgbClr val="63637E"/>
              </a:buClr>
              <a:buSzPts val="1800"/>
              <a:buFont typeface="Arial"/>
              <a:buChar char="•"/>
            </a:pPr>
            <a:r>
              <a:rPr b="0" i="0" lang="en-US" sz="2000">
                <a:solidFill>
                  <a:srgbClr val="63637E"/>
                </a:solidFill>
                <a:latin typeface="Calibri"/>
                <a:ea typeface="Calibri"/>
                <a:cs typeface="Calibri"/>
                <a:sym typeface="Calibri"/>
              </a:rPr>
              <a:t>Lowest interruption rate of any published system.</a:t>
            </a:r>
            <a:endParaRPr/>
          </a:p>
          <a:p>
            <a:pPr indent="-177800" lvl="0" marL="177800" rtl="0" algn="l">
              <a:lnSpc>
                <a:spcPct val="100000"/>
              </a:lnSpc>
              <a:spcBef>
                <a:spcPts val="800"/>
              </a:spcBef>
              <a:spcAft>
                <a:spcPts val="0"/>
              </a:spcAft>
              <a:buClr>
                <a:srgbClr val="63637E"/>
              </a:buClr>
              <a:buSzPts val="1800"/>
              <a:buFont typeface="Arial"/>
              <a:buChar char="•"/>
            </a:pPr>
            <a:r>
              <a:rPr b="0" i="0" lang="en-US" sz="2000">
                <a:solidFill>
                  <a:srgbClr val="63637E"/>
                </a:solidFill>
                <a:latin typeface="Calibri"/>
                <a:ea typeface="Calibri"/>
                <a:cs typeface="Calibri"/>
                <a:sym typeface="Calibri"/>
              </a:rPr>
              <a:t>Best turn-take among native voice models.</a:t>
            </a:r>
            <a:endParaRPr/>
          </a:p>
        </p:txBody>
      </p:sp>
      <p:graphicFrame>
        <p:nvGraphicFramePr>
          <p:cNvPr id="155" name="Google Shape;155;p21"/>
          <p:cNvGraphicFramePr/>
          <p:nvPr/>
        </p:nvGraphicFramePr>
        <p:xfrm>
          <a:off x="932688" y="1417320"/>
          <a:ext cx="3000000" cy="3000000"/>
        </p:xfrm>
        <a:graphic>
          <a:graphicData uri="http://schemas.openxmlformats.org/drawingml/2006/table">
            <a:tbl>
              <a:tblPr bandRow="1" firstRow="1">
                <a:noFill/>
                <a:tableStyleId>{0D198B00-D2C7-4CC7-B19F-F896A1937A9B}</a:tableStyleId>
              </a:tblPr>
              <a:tblGrid>
                <a:gridCol w="3017525"/>
                <a:gridCol w="4297675"/>
                <a:gridCol w="3200400"/>
              </a:tblGrid>
              <a:tr h="438900">
                <a:tc>
                  <a:txBody>
                    <a:bodyPr/>
                    <a:lstStyle/>
                    <a:p>
                      <a:pPr indent="0" lvl="0" marL="0" marR="0" rtl="0" algn="l">
                        <a:lnSpc>
                          <a:spcPct val="100000"/>
                        </a:lnSpc>
                        <a:spcBef>
                          <a:spcPts val="0"/>
                        </a:spcBef>
                        <a:spcAft>
                          <a:spcPts val="0"/>
                        </a:spcAft>
                        <a:buNone/>
                      </a:pPr>
                      <a:r>
                        <a:rPr b="1" i="0" lang="en-US" sz="1800" u="none" cap="none" strike="noStrike">
                          <a:solidFill>
                            <a:srgbClr val="FFFFFF"/>
                          </a:solidFill>
                          <a:latin typeface="Calibri"/>
                          <a:ea typeface="Calibri"/>
                          <a:cs typeface="Calibri"/>
                          <a:sym typeface="Calibri"/>
                        </a:rPr>
                        <a:t>Metric</a:t>
                      </a:r>
                      <a:endParaRPr/>
                    </a:p>
                  </a:txBody>
                  <a:tcPr marT="36575" marB="36575" marR="91450" marL="91450" anchor="ctr">
                    <a:solidFill>
                      <a:srgbClr val="704EA6"/>
                    </a:solidFill>
                  </a:tcPr>
                </a:tc>
                <a:tc>
                  <a:txBody>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Calibri"/>
                          <a:ea typeface="Calibri"/>
                          <a:cs typeface="Calibri"/>
                          <a:sym typeface="Calibri"/>
                        </a:rPr>
                        <a:t>Ours</a:t>
                      </a:r>
                      <a:endParaRPr/>
                    </a:p>
                  </a:txBody>
                  <a:tcPr marT="36575" marB="36575" marR="91450" marL="91450" anchor="ctr">
                    <a:solidFill>
                      <a:srgbClr val="704EA6"/>
                    </a:solidFill>
                  </a:tcPr>
                </a:tc>
                <a:tc>
                  <a:txBody>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Calibri"/>
                          <a:ea typeface="Calibri"/>
                          <a:cs typeface="Calibri"/>
                          <a:sym typeface="Calibri"/>
                        </a:rPr>
                        <a:t>Gemini Live 2.5 (paper)</a:t>
                      </a:r>
                      <a:endParaRPr/>
                    </a:p>
                  </a:txBody>
                  <a:tcPr marT="36575" marB="36575" marR="91450" marL="91450" anchor="ctr">
                    <a:solidFill>
                      <a:srgbClr val="704EA6"/>
                    </a:solidFill>
                  </a:tcPr>
                </a:tc>
              </a:tr>
              <a:tr h="438900">
                <a:tc>
                  <a:txBody>
                    <a:bodyPr/>
                    <a:lstStyle/>
                    <a:p>
                      <a:pPr indent="0" lvl="0" marL="0" marR="0" rtl="0" algn="l">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Tool selection</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86.4%</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78.6%</a:t>
                      </a:r>
                      <a:endParaRPr/>
                    </a:p>
                  </a:txBody>
                  <a:tcPr marT="36575" marB="36575" marR="91450" marL="91450" anchor="ctr">
                    <a:solidFill>
                      <a:srgbClr val="FFFFFF"/>
                    </a:solidFill>
                  </a:tcPr>
                </a:tc>
              </a:tr>
              <a:tr h="438900">
                <a:tc>
                  <a:txBody>
                    <a:bodyPr/>
                    <a:lstStyle/>
                    <a:p>
                      <a:pPr indent="0" lvl="0" marL="0" marR="0" rtl="0" algn="l">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Turn-take rate</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99.0%</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92.0%</a:t>
                      </a:r>
                      <a:endParaRPr/>
                    </a:p>
                  </a:txBody>
                  <a:tcPr marT="36575" marB="36575" marR="91450" marL="91450" anchor="ctr">
                    <a:solidFill>
                      <a:srgbClr val="F1ECF9"/>
                    </a:solidFill>
                  </a:tcPr>
                </a:tc>
              </a:tr>
              <a:tr h="438900">
                <a:tc>
                  <a:txBody>
                    <a:bodyPr/>
                    <a:lstStyle/>
                    <a:p>
                      <a:pPr indent="0" lvl="0" marL="0" marR="0" rtl="0" algn="l">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Interruption rate ↓</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5.1%</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14.1%</a:t>
                      </a:r>
                      <a:endParaRPr/>
                    </a:p>
                  </a:txBody>
                  <a:tcPr marT="36575" marB="36575" marR="91450" marL="91450" anchor="ctr">
                    <a:solidFill>
                      <a:srgbClr val="FFFFFF"/>
                    </a:solidFill>
                  </a:tcPr>
                </a:tc>
              </a:tr>
              <a:tr h="438900">
                <a:tc>
                  <a:txBody>
                    <a:bodyPr/>
                    <a:lstStyle/>
                    <a:p>
                      <a:pPr indent="0" lvl="0" marL="0" marR="0" rtl="0" algn="l">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Latency ↓</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11.9 s</a:t>
                      </a:r>
                      <a:endParaRPr/>
                    </a:p>
                  </a:txBody>
                  <a:tcPr marT="36575" marB="36575" marR="91450" marL="91450" anchor="ctr">
                    <a:solidFill>
                      <a:srgbClr val="F1ECF9"/>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7.26 s</a:t>
                      </a:r>
                      <a:endParaRPr/>
                    </a:p>
                  </a:txBody>
                  <a:tcPr marT="36575" marB="36575" marR="91450" marL="91450" anchor="ctr">
                    <a:solidFill>
                      <a:srgbClr val="F1ECF9"/>
                    </a:solidFill>
                  </a:tcPr>
                </a:tc>
              </a:tr>
              <a:tr h="438900">
                <a:tc>
                  <a:txBody>
                    <a:bodyPr/>
                    <a:lstStyle/>
                    <a:p>
                      <a:pPr indent="0" lvl="0" marL="0" marR="0" rtl="0" algn="l">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Arg accuracy / Pass@1</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42.3% / 29.0% (strict exact-match)</a:t>
                      </a:r>
                      <a:endParaRPr/>
                    </a:p>
                  </a:txBody>
                  <a:tcPr marT="36575" marB="36575" marR="91450" marL="91450" anchor="ctr">
                    <a:solidFill>
                      <a:srgbClr val="FFFFFF"/>
                    </a:solidFill>
                  </a:tcPr>
                </a:tc>
                <a:tc>
                  <a:txBody>
                    <a:bodyPr/>
                    <a:lstStyle/>
                    <a:p>
                      <a:pPr indent="0" lvl="0" marL="0" marR="0" rtl="0" algn="ctr">
                        <a:lnSpc>
                          <a:spcPct val="100000"/>
                        </a:lnSpc>
                        <a:spcBef>
                          <a:spcPts val="0"/>
                        </a:spcBef>
                        <a:spcAft>
                          <a:spcPts val="0"/>
                        </a:spcAft>
                        <a:buNone/>
                      </a:pPr>
                      <a:r>
                        <a:rPr b="0" i="0" lang="en-US" sz="1800" u="none" cap="none" strike="noStrike">
                          <a:solidFill>
                            <a:srgbClr val="2B2B40"/>
                          </a:solidFill>
                          <a:latin typeface="Calibri"/>
                          <a:ea typeface="Calibri"/>
                          <a:cs typeface="Calibri"/>
                          <a:sym typeface="Calibri"/>
                        </a:rPr>
                        <a:t>59.3% / 49.0% (LLM judge)</a:t>
                      </a:r>
                      <a:endParaRPr/>
                    </a:p>
                  </a:txBody>
                  <a:tcPr marT="36575" marB="36575" marR="91450" marL="91450" anchor="ctr">
                    <a:solidFill>
                      <a:srgbClr val="FFFFFF"/>
                    </a:solidFill>
                  </a:tcPr>
                </a:tc>
              </a:tr>
            </a:tbl>
          </a:graphicData>
        </a:graphic>
      </p:graphicFrame>
      <p:sp>
        <p:nvSpPr>
          <p:cNvPr id="156" name="Google Shape;156;p21"/>
          <p:cNvSpPr txBox="1"/>
          <p:nvPr/>
        </p:nvSpPr>
        <p:spPr>
          <a:xfrm>
            <a:off x="841248" y="41605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63637E"/>
                </a:solidFill>
                <a:latin typeface="Calibri"/>
                <a:ea typeface="Calibri"/>
                <a:cs typeface="Calibri"/>
                <a:sym typeface="Calibri"/>
              </a:rPr>
              <a:t>Arg accuracy and Pass@1 use stricter exact-match scoring, so they aren’t directly comparable. Organizers re-score with the LLM judge.</a:t>
            </a:r>
            <a:endParaRPr/>
          </a:p>
        </p:txBody>
      </p:sp>
      <p:sp>
        <p:nvSpPr>
          <p:cNvPr id="157" name="Google Shape;157;p21"/>
          <p:cNvSpPr txBox="1"/>
          <p:nvPr/>
        </p:nvSpPr>
        <p:spPr>
          <a:xfrm>
            <a:off x="6309360" y="4754880"/>
            <a:ext cx="5120640" cy="1737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704EA6"/>
                </a:solidFill>
                <a:latin typeface="Calibri"/>
                <a:ea typeface="Calibri"/>
                <a:cs typeface="Calibri"/>
                <a:sym typeface="Calibri"/>
              </a:rPr>
              <a:t>Limitations</a:t>
            </a:r>
            <a:endParaRPr/>
          </a:p>
          <a:p>
            <a:pPr indent="-177800" lvl="0" marL="177800" marR="0" rtl="0" algn="l">
              <a:lnSpc>
                <a:spcPct val="100000"/>
              </a:lnSpc>
              <a:spcBef>
                <a:spcPts val="400"/>
              </a:spcBef>
              <a:spcAft>
                <a:spcPts val="0"/>
              </a:spcAft>
              <a:buClr>
                <a:srgbClr val="63637E"/>
              </a:buClr>
              <a:buSzPts val="2000"/>
              <a:buFont typeface="Arial"/>
              <a:buChar char="•"/>
            </a:pPr>
            <a:r>
              <a:rPr b="0" i="0" lang="en-US" sz="2000" u="none" cap="none" strike="noStrike">
                <a:solidFill>
                  <a:srgbClr val="63637E"/>
                </a:solidFill>
                <a:latin typeface="Calibri"/>
                <a:ea typeface="Calibri"/>
                <a:cs typeface="Calibri"/>
                <a:sym typeface="Calibri"/>
              </a:rPr>
              <a:t>Higher latency.</a:t>
            </a:r>
            <a:endParaRPr/>
          </a:p>
          <a:p>
            <a:pPr indent="-177800" lvl="0" marL="177800" marR="0" rtl="0" algn="l">
              <a:lnSpc>
                <a:spcPct val="100000"/>
              </a:lnSpc>
              <a:spcBef>
                <a:spcPts val="800"/>
              </a:spcBef>
              <a:spcAft>
                <a:spcPts val="0"/>
              </a:spcAft>
              <a:buClr>
                <a:srgbClr val="63637E"/>
              </a:buClr>
              <a:buSzPts val="2000"/>
              <a:buFont typeface="Arial"/>
              <a:buChar char="•"/>
            </a:pPr>
            <a:r>
              <a:rPr b="0" i="0" lang="en-US" sz="2000" u="none" cap="none" strike="noStrike">
                <a:solidFill>
                  <a:srgbClr val="63637E"/>
                </a:solidFill>
                <a:latin typeface="Calibri"/>
                <a:ea typeface="Calibri"/>
                <a:cs typeface="Calibri"/>
                <a:sym typeface="Calibri"/>
              </a:rPr>
              <a:t>Corrections made after a long pause.</a:t>
            </a:r>
            <a:endParaRPr/>
          </a:p>
          <a:p>
            <a:pPr indent="-177800" lvl="0" marL="177800" marR="0" rtl="0" algn="l">
              <a:lnSpc>
                <a:spcPct val="100000"/>
              </a:lnSpc>
              <a:spcBef>
                <a:spcPts val="800"/>
              </a:spcBef>
              <a:spcAft>
                <a:spcPts val="0"/>
              </a:spcAft>
              <a:buClr>
                <a:srgbClr val="63637E"/>
              </a:buClr>
              <a:buSzPts val="2000"/>
              <a:buFont typeface="Arial"/>
              <a:buChar char="•"/>
            </a:pPr>
            <a:r>
              <a:rPr b="0" i="0" lang="en-US" sz="2000" u="none" cap="none" strike="noStrike">
                <a:solidFill>
                  <a:srgbClr val="63637E"/>
                </a:solidFill>
                <a:latin typeface="Calibri"/>
                <a:ea typeface="Calibri"/>
                <a:cs typeface="Calibri"/>
                <a:sym typeface="Calibri"/>
              </a:rPr>
              <a:t>1/100 silent session (provider flake).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What’s next</a:t>
            </a:r>
            <a:endParaRPr b="1" sz="4400">
              <a:solidFill>
                <a:srgbClr val="704EA6"/>
              </a:solidFill>
            </a:endParaRPr>
          </a:p>
        </p:txBody>
      </p:sp>
      <p:sp>
        <p:nvSpPr>
          <p:cNvPr id="163" name="Google Shape;16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100000"/>
              </a:lnSpc>
              <a:spcBef>
                <a:spcPts val="0"/>
              </a:spcBef>
              <a:spcAft>
                <a:spcPts val="0"/>
              </a:spcAft>
              <a:buClr>
                <a:srgbClr val="63637E"/>
              </a:buClr>
              <a:buSzPts val="1800"/>
              <a:buFont typeface="Arial"/>
              <a:buChar char="•"/>
            </a:pPr>
            <a:r>
              <a:rPr b="1" i="0" lang="en-US" sz="2600">
                <a:solidFill>
                  <a:srgbClr val="704EA6"/>
                </a:solidFill>
                <a:latin typeface="Calibri"/>
                <a:ea typeface="Calibri"/>
                <a:cs typeface="Calibri"/>
                <a:sym typeface="Calibri"/>
              </a:rPr>
              <a:t>Provisional vs confirmed commits: </a:t>
            </a:r>
            <a:r>
              <a:rPr b="0" i="0" lang="en-US" sz="2600">
                <a:solidFill>
                  <a:srgbClr val="63637E"/>
                </a:solidFill>
                <a:latin typeface="Calibri"/>
                <a:ea typeface="Calibri"/>
                <a:cs typeface="Calibri"/>
                <a:sym typeface="Calibri"/>
              </a:rPr>
              <a:t>hold values until the turn truly ends.</a:t>
            </a:r>
            <a:endParaRPr/>
          </a:p>
          <a:p>
            <a:pPr indent="-177800" lvl="0" marL="177800" rtl="0" algn="l">
              <a:lnSpc>
                <a:spcPct val="100000"/>
              </a:lnSpc>
              <a:spcBef>
                <a:spcPts val="2000"/>
              </a:spcBef>
              <a:spcAft>
                <a:spcPts val="0"/>
              </a:spcAft>
              <a:buClr>
                <a:srgbClr val="63637E"/>
              </a:buClr>
              <a:buSzPts val="1800"/>
              <a:buFont typeface="Arial"/>
              <a:buChar char="•"/>
            </a:pPr>
            <a:r>
              <a:rPr b="1" i="0" lang="en-US" sz="2600">
                <a:solidFill>
                  <a:srgbClr val="704EA6"/>
                </a:solidFill>
                <a:latin typeface="Calibri"/>
                <a:ea typeface="Calibri"/>
                <a:cs typeface="Calibri"/>
                <a:sym typeface="Calibri"/>
              </a:rPr>
              <a:t>Audio-based end-of-turn detection: </a:t>
            </a:r>
            <a:r>
              <a:rPr b="0" i="0" lang="en-US" sz="2600">
                <a:solidFill>
                  <a:srgbClr val="63637E"/>
                </a:solidFill>
                <a:latin typeface="Calibri"/>
                <a:ea typeface="Calibri"/>
                <a:cs typeface="Calibri"/>
                <a:sym typeface="Calibri"/>
              </a:rPr>
              <a:t>avoid committing during mid-sentence pauses.</a:t>
            </a:r>
            <a:endParaRPr/>
          </a:p>
          <a:p>
            <a:pPr indent="-177800" lvl="0" marL="177800" rtl="0" algn="l">
              <a:lnSpc>
                <a:spcPct val="100000"/>
              </a:lnSpc>
              <a:spcBef>
                <a:spcPts val="2000"/>
              </a:spcBef>
              <a:spcAft>
                <a:spcPts val="0"/>
              </a:spcAft>
              <a:buClr>
                <a:srgbClr val="63637E"/>
              </a:buClr>
              <a:buSzPts val="1800"/>
              <a:buFont typeface="Arial"/>
              <a:buChar char="•"/>
            </a:pPr>
            <a:r>
              <a:rPr b="1" i="0" lang="en-US" sz="2600">
                <a:solidFill>
                  <a:srgbClr val="704EA6"/>
                </a:solidFill>
                <a:latin typeface="Calibri"/>
                <a:ea typeface="Calibri"/>
                <a:cs typeface="Calibri"/>
                <a:sym typeface="Calibri"/>
              </a:rPr>
              <a:t>Latency: </a:t>
            </a:r>
            <a:r>
              <a:rPr b="0" i="0" lang="en-US" sz="2600">
                <a:solidFill>
                  <a:srgbClr val="63637E"/>
                </a:solidFill>
                <a:latin typeface="Calibri"/>
                <a:ea typeface="Calibri"/>
                <a:cs typeface="Calibri"/>
                <a:sym typeface="Calibri"/>
              </a:rPr>
              <a:t>thinking-budget tuning and key-information-first answers.</a:t>
            </a:r>
            <a:endParaRPr/>
          </a:p>
          <a:p>
            <a:pPr indent="-177800" lvl="0" marL="177800" rtl="0" algn="l">
              <a:lnSpc>
                <a:spcPct val="100000"/>
              </a:lnSpc>
              <a:spcBef>
                <a:spcPts val="2000"/>
              </a:spcBef>
              <a:spcAft>
                <a:spcPts val="0"/>
              </a:spcAft>
              <a:buClr>
                <a:srgbClr val="63637E"/>
              </a:buClr>
              <a:buSzPts val="1800"/>
              <a:buFont typeface="Arial"/>
              <a:buChar char="•"/>
            </a:pPr>
            <a:r>
              <a:rPr b="1" i="0" lang="en-US" sz="2600">
                <a:solidFill>
                  <a:srgbClr val="704EA6"/>
                </a:solidFill>
                <a:latin typeface="Calibri"/>
                <a:ea typeface="Calibri"/>
                <a:cs typeface="Calibri"/>
                <a:sym typeface="Calibri"/>
              </a:rPr>
              <a:t>Schema-driven argument normalisation: </a:t>
            </a:r>
            <a:r>
              <a:rPr b="0" i="0" lang="en-US" sz="2600">
                <a:solidFill>
                  <a:srgbClr val="63637E"/>
                </a:solidFill>
                <a:latin typeface="Calibri"/>
                <a:ea typeface="Calibri"/>
                <a:cs typeface="Calibri"/>
                <a:sym typeface="Calibri"/>
              </a:rPr>
              <a:t>dates, currencies, IDs.</a:t>
            </a:r>
            <a:endParaRPr/>
          </a:p>
          <a:p>
            <a:pPr indent="-177800" lvl="0" marL="177800" rtl="0" algn="l">
              <a:lnSpc>
                <a:spcPct val="100000"/>
              </a:lnSpc>
              <a:spcBef>
                <a:spcPts val="2000"/>
              </a:spcBef>
              <a:spcAft>
                <a:spcPts val="0"/>
              </a:spcAft>
              <a:buClr>
                <a:srgbClr val="63637E"/>
              </a:buClr>
              <a:buSzPts val="1800"/>
              <a:buFont typeface="Arial"/>
              <a:buChar char="•"/>
            </a:pPr>
            <a:r>
              <a:rPr b="1" i="0" lang="en-US" sz="2600">
                <a:solidFill>
                  <a:srgbClr val="704EA6"/>
                </a:solidFill>
                <a:latin typeface="Calibri"/>
                <a:ea typeface="Calibri"/>
                <a:cs typeface="Calibri"/>
                <a:sym typeface="Calibri"/>
              </a:rPr>
              <a:t>More use cases: </a:t>
            </a:r>
            <a:r>
              <a:rPr b="0" i="0" lang="en-US" sz="2600">
                <a:solidFill>
                  <a:srgbClr val="63637E"/>
                </a:solidFill>
                <a:latin typeface="Calibri"/>
                <a:ea typeface="Calibri"/>
                <a:cs typeface="Calibri"/>
                <a:sym typeface="Calibri"/>
              </a:rPr>
              <a:t>in-car destination change, Samsung SmartThings control.</a:t>
            </a:r>
            <a:endParaRPr/>
          </a:p>
          <a:p>
            <a:pPr indent="-177800" lvl="0" marL="177800" rtl="0" algn="l">
              <a:lnSpc>
                <a:spcPct val="100000"/>
              </a:lnSpc>
              <a:spcBef>
                <a:spcPts val="2000"/>
              </a:spcBef>
              <a:spcAft>
                <a:spcPts val="0"/>
              </a:spcAft>
              <a:buClr>
                <a:srgbClr val="63637E"/>
              </a:buClr>
              <a:buSzPts val="1800"/>
              <a:buFont typeface="Arial"/>
              <a:buChar char="•"/>
            </a:pPr>
            <a:r>
              <a:rPr b="1" i="0" lang="en-US" sz="2600">
                <a:solidFill>
                  <a:srgbClr val="704EA6"/>
                </a:solidFill>
                <a:latin typeface="Calibri"/>
                <a:ea typeface="Calibri"/>
                <a:cs typeface="Calibri"/>
                <a:sym typeface="Calibri"/>
              </a:rPr>
              <a:t>Indian languages and code-switching: </a:t>
            </a:r>
            <a:r>
              <a:rPr b="0" i="0" lang="en-US" sz="2600">
                <a:solidFill>
                  <a:srgbClr val="63637E"/>
                </a:solidFill>
                <a:latin typeface="Calibri"/>
                <a:ea typeface="Calibri"/>
                <a:cs typeface="Calibri"/>
                <a:sym typeface="Calibri"/>
              </a:rPr>
              <a:t>Hindi, Tamil.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Brownie points slide( differentiation)</a:t>
            </a:r>
            <a:endParaRPr b="1" sz="4400">
              <a:solidFill>
                <a:srgbClr val="704EA6"/>
              </a:solidFill>
            </a:endParaRPr>
          </a:p>
        </p:txBody>
      </p:sp>
      <p:sp>
        <p:nvSpPr>
          <p:cNvPr id="169" name="Google Shape;16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100000"/>
              </a:lnSpc>
              <a:spcBef>
                <a:spcPts val="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Fixed real benchmark-harness bugs, each documented as a patch:</a:t>
            </a:r>
            <a:endParaRPr/>
          </a:p>
          <a:p>
            <a:pPr indent="-177800" lvl="0" marL="406400" rtl="0" algn="l">
              <a:lnSpc>
                <a:spcPct val="100000"/>
              </a:lnSpc>
              <a:spcBef>
                <a:spcPts val="300"/>
              </a:spcBef>
              <a:spcAft>
                <a:spcPts val="0"/>
              </a:spcAft>
              <a:buClr>
                <a:srgbClr val="63637E"/>
              </a:buClr>
              <a:buSzPts val="1800"/>
              <a:buFont typeface="Arial"/>
              <a:buChar char="–"/>
            </a:pPr>
            <a:r>
              <a:rPr b="0" i="0" lang="en-US" sz="1700">
                <a:solidFill>
                  <a:srgbClr val="63637E"/>
                </a:solidFill>
                <a:latin typeface="Calibri"/>
                <a:ea typeface="Calibri"/>
                <a:cs typeface="Calibri"/>
                <a:sym typeface="Calibri"/>
              </a:rPr>
              <a:t>Crash on CPU-only machines</a:t>
            </a:r>
            <a:endParaRPr/>
          </a:p>
          <a:p>
            <a:pPr indent="-177800" lvl="0" marL="406400" rtl="0" algn="l">
              <a:lnSpc>
                <a:spcPct val="100000"/>
              </a:lnSpc>
              <a:spcBef>
                <a:spcPts val="300"/>
              </a:spcBef>
              <a:spcAft>
                <a:spcPts val="0"/>
              </a:spcAft>
              <a:buClr>
                <a:srgbClr val="63637E"/>
              </a:buClr>
              <a:buSzPts val="1800"/>
              <a:buFont typeface="Arial"/>
              <a:buChar char="–"/>
            </a:pPr>
            <a:r>
              <a:rPr b="0" i="0" lang="en-US" sz="1700">
                <a:solidFill>
                  <a:srgbClr val="63637E"/>
                </a:solidFill>
                <a:latin typeface="Calibri"/>
                <a:ea typeface="Calibri"/>
                <a:cs typeface="Calibri"/>
                <a:sym typeface="Calibri"/>
              </a:rPr>
              <a:t>Plugin loading error with the current LiveKit version</a:t>
            </a:r>
            <a:endParaRPr/>
          </a:p>
          <a:p>
            <a:pPr indent="-177800" lvl="0" marL="406400" rtl="0" algn="l">
              <a:lnSpc>
                <a:spcPct val="100000"/>
              </a:lnSpc>
              <a:spcBef>
                <a:spcPts val="300"/>
              </a:spcBef>
              <a:spcAft>
                <a:spcPts val="0"/>
              </a:spcAft>
              <a:buClr>
                <a:srgbClr val="63637E"/>
              </a:buClr>
              <a:buSzPts val="1800"/>
              <a:buFont typeface="Arial"/>
              <a:buChar char="–"/>
            </a:pPr>
            <a:r>
              <a:rPr b="0" i="0" lang="en-US" sz="1700">
                <a:solidFill>
                  <a:srgbClr val="63637E"/>
                </a:solidFill>
                <a:latin typeface="Calibri"/>
                <a:ea typeface="Calibri"/>
                <a:cs typeface="Calibri"/>
                <a:sym typeface="Calibri"/>
              </a:rPr>
              <a:t>Re-scoring mode silently reporting zero tool calls</a:t>
            </a:r>
            <a:endParaRPr/>
          </a:p>
          <a:p>
            <a:pPr indent="-177800" lvl="0" marL="177800" rtl="0" algn="l">
              <a:lnSpc>
                <a:spcPct val="100000"/>
              </a:lnSpc>
              <a:spcBef>
                <a:spcPts val="9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Docker fresh-clone test </a:t>
            </a:r>
            <a:r>
              <a:rPr b="0" i="0" lang="en-US" sz="2000">
                <a:solidFill>
                  <a:srgbClr val="63637E"/>
                </a:solidFill>
                <a:latin typeface="Calibri"/>
                <a:ea typeface="Calibri"/>
                <a:cs typeface="Calibri"/>
                <a:sym typeface="Calibri"/>
              </a:rPr>
              <a:t>caught a reproduction deadlock before submission.</a:t>
            </a:r>
            <a:endParaRPr/>
          </a:p>
          <a:p>
            <a:pPr indent="-177800" lvl="0" marL="177800" rtl="0" algn="l">
              <a:lnSpc>
                <a:spcPct val="100000"/>
              </a:lnSpc>
              <a:spcBef>
                <a:spcPts val="9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Explicit per-agent dispatch: </a:t>
            </a:r>
            <a:r>
              <a:rPr b="0" i="0" lang="en-US" sz="2000">
                <a:solidFill>
                  <a:srgbClr val="63637E"/>
                </a:solidFill>
                <a:latin typeface="Calibri"/>
                <a:ea typeface="Calibri"/>
                <a:cs typeface="Calibri"/>
                <a:sym typeface="Calibri"/>
              </a:rPr>
              <a:t>benchmark and demo runs can’t contaminate each other.</a:t>
            </a:r>
            <a:endParaRPr/>
          </a:p>
          <a:p>
            <a:pPr indent="-177800" lvl="0" marL="177800" rtl="0" algn="l">
              <a:lnSpc>
                <a:spcPct val="100000"/>
              </a:lnSpc>
              <a:spcBef>
                <a:spcPts val="9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Honest reporting:</a:t>
            </a:r>
            <a:endParaRPr/>
          </a:p>
          <a:p>
            <a:pPr indent="-177800" lvl="0" marL="406400" rtl="0" algn="l">
              <a:lnSpc>
                <a:spcPct val="100000"/>
              </a:lnSpc>
              <a:spcBef>
                <a:spcPts val="300"/>
              </a:spcBef>
              <a:spcAft>
                <a:spcPts val="0"/>
              </a:spcAft>
              <a:buClr>
                <a:srgbClr val="63637E"/>
              </a:buClr>
              <a:buSzPts val="1800"/>
              <a:buFont typeface="Arial"/>
              <a:buChar char="–"/>
            </a:pPr>
            <a:r>
              <a:rPr b="0" i="0" lang="en-US" sz="1700">
                <a:solidFill>
                  <a:srgbClr val="63637E"/>
                </a:solidFill>
                <a:latin typeface="Calibri"/>
                <a:ea typeface="Calibri"/>
                <a:cs typeface="Calibri"/>
                <a:sym typeface="Calibri"/>
              </a:rPr>
              <a:t>Invalid runs retracted, not reported</a:t>
            </a:r>
            <a:endParaRPr/>
          </a:p>
          <a:p>
            <a:pPr indent="-177800" lvl="0" marL="406400" rtl="0" algn="l">
              <a:lnSpc>
                <a:spcPct val="100000"/>
              </a:lnSpc>
              <a:spcBef>
                <a:spcPts val="300"/>
              </a:spcBef>
              <a:spcAft>
                <a:spcPts val="0"/>
              </a:spcAft>
              <a:buClr>
                <a:srgbClr val="63637E"/>
              </a:buClr>
              <a:buSzPts val="1800"/>
              <a:buFont typeface="Arial"/>
              <a:buChar char="–"/>
            </a:pPr>
            <a:r>
              <a:rPr b="0" i="0" lang="en-US" sz="1700">
                <a:solidFill>
                  <a:srgbClr val="63637E"/>
                </a:solidFill>
                <a:latin typeface="Calibri"/>
                <a:ea typeface="Calibri"/>
                <a:cs typeface="Calibri"/>
                <a:sym typeface="Calibri"/>
              </a:rPr>
              <a:t>Exact-match numbers labelled as such</a:t>
            </a:r>
            <a:endParaRPr/>
          </a:p>
          <a:p>
            <a:pPr indent="-177800" lvl="0" marL="406400" rtl="0" algn="l">
              <a:lnSpc>
                <a:spcPct val="100000"/>
              </a:lnSpc>
              <a:spcBef>
                <a:spcPts val="300"/>
              </a:spcBef>
              <a:spcAft>
                <a:spcPts val="0"/>
              </a:spcAft>
              <a:buClr>
                <a:srgbClr val="63637E"/>
              </a:buClr>
              <a:buSzPts val="1800"/>
              <a:buFont typeface="Arial"/>
              <a:buChar char="–"/>
            </a:pPr>
            <a:r>
              <a:rPr b="0" i="0" lang="en-US" sz="1700">
                <a:solidFill>
                  <a:srgbClr val="63637E"/>
                </a:solidFill>
                <a:latin typeface="Calibri"/>
                <a:ea typeface="Calibri"/>
                <a:cs typeface="Calibri"/>
                <a:sym typeface="Calibri"/>
              </a:rPr>
              <a:t>Integrity slip disclosed in the AI usage log</a:t>
            </a:r>
            <a:endParaRPr/>
          </a:p>
          <a:p>
            <a:pPr indent="-177800" lvl="0" marL="177800" rtl="0" algn="l">
              <a:lnSpc>
                <a:spcPct val="100000"/>
              </a:lnSpc>
              <a:spcBef>
                <a:spcPts val="900"/>
              </a:spcBef>
              <a:spcAft>
                <a:spcPts val="0"/>
              </a:spcAft>
              <a:buClr>
                <a:srgbClr val="63637E"/>
              </a:buClr>
              <a:buSzPts val="1800"/>
              <a:buFont typeface="Arial"/>
              <a:buChar char="•"/>
            </a:pPr>
            <a:r>
              <a:rPr b="1" i="0" lang="en-US" sz="2000">
                <a:solidFill>
                  <a:srgbClr val="704EA6"/>
                </a:solidFill>
                <a:latin typeface="Calibri"/>
                <a:ea typeface="Calibri"/>
                <a:cs typeface="Calibri"/>
                <a:sym typeface="Calibri"/>
              </a:rPr>
              <a:t>Safety by design: </a:t>
            </a:r>
            <a:r>
              <a:rPr b="0" i="0" lang="en-US" sz="2000">
                <a:solidFill>
                  <a:srgbClr val="63637E"/>
                </a:solidFill>
                <a:latin typeface="Calibri"/>
                <a:ea typeface="Calibri"/>
                <a:cs typeface="Calibri"/>
                <a:sym typeface="Calibri"/>
              </a:rPr>
              <a:t>resolver can block values but never invent them.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42B"/>
              </a:buClr>
              <a:buSzPts val="4600"/>
              <a:buFont typeface="Arial"/>
              <a:buNone/>
            </a:pPr>
            <a:r>
              <a:rPr b="1" i="0" lang="en-US" sz="4600" u="none" cap="none" strike="noStrike">
                <a:solidFill>
                  <a:srgbClr val="14142B"/>
                </a:solidFill>
                <a:latin typeface="Arial"/>
                <a:ea typeface="Arial"/>
                <a:cs typeface="Arial"/>
                <a:sym typeface="Arial"/>
              </a:rPr>
              <a:t>Thank you</a:t>
            </a:r>
            <a:endParaRPr b="0" i="0" sz="4600" u="none" cap="none" strike="noStrike">
              <a:solidFill>
                <a:schemeClr val="dk1"/>
              </a:solidFill>
              <a:latin typeface="Calibri"/>
              <a:ea typeface="Calibri"/>
              <a:cs typeface="Calibri"/>
              <a:sym typeface="Calibri"/>
            </a:endParaRPr>
          </a:p>
        </p:txBody>
      </p:sp>
      <p:sp>
        <p:nvSpPr>
          <p:cNvPr id="176" name="Google Shape;176;p24"/>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637E"/>
              </a:buClr>
              <a:buSzPts val="1100"/>
              <a:buFont typeface="Calibri"/>
              <a:buNone/>
            </a:pPr>
            <a:r>
              <a:rPr b="0" i="0" lang="en-US" sz="1100" u="none" cap="none" strike="noStrike">
                <a:solidFill>
                  <a:srgbClr val="63637E"/>
                </a:solidFill>
                <a:latin typeface="Calibri"/>
                <a:ea typeface="Calibri"/>
                <a:cs typeface="Calibri"/>
                <a:sym typeface="Calibri"/>
              </a:rPr>
              <a:t>Organised by the Language AI Team and the PRISM Team, Samsung R&amp;D Institute India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